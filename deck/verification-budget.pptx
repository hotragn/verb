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putting the room at ease. Most people here are not engineers and they</a:t>
            </a:r>
          </a:p>
          <a:p>
            <a:r>
              <a:t>have sat through a lot of AI slides this year.</a:t>
            </a:r>
          </a:p>
          <a:p/>
          <a:p>
            <a:r>
              <a:t>Say who you are in one line, then say what this talk is not: it is not a</a:t>
            </a:r>
          </a:p>
          <a:p>
            <a:r>
              <a:t>prediction, not a product, and not a maturity model you have to buy. It is one</a:t>
            </a:r>
          </a:p>
          <a:p>
            <a:r>
              <a:t>number and what follows from it.</a:t>
            </a:r>
          </a:p>
          <a:p/>
          <a:p>
            <a:r>
              <a:t>Tell them the whole thing is free and on GitHub, so they can stop taking</a:t>
            </a:r>
          </a:p>
          <a:p>
            <a:r>
              <a:t>photographs of slides and listen instead. Point at the QR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short breath before the argument starts.</a:t>
            </a:r>
          </a:p>
          <a:p/>
          <a:p>
            <a:r>
              <a:t>Say what the three parts are so people know where they are: why the constraint</a:t>
            </a:r>
          </a:p>
          <a:p>
            <a:r>
              <a:t>moved, what the operating model looks like once you accept it, and what to do on</a:t>
            </a:r>
          </a:p>
          <a:p>
            <a:r>
              <a:t>Monday. Then get straight into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for a show of hands: who has an AI tool writing something that used to take a</a:t>
            </a:r>
          </a:p>
          <a:p>
            <a:r>
              <a:t>person an afternoon. Most hands go up. Leave the hands up for a beat.</a:t>
            </a:r>
          </a:p>
          <a:p/>
          <a:p>
            <a:r>
              <a:t>Then the turn: everyone measured the win in hours saved on production. Nobody</a:t>
            </a:r>
          </a:p>
          <a:p>
            <a:r>
              <a:t>measured what happened next.</a:t>
            </a:r>
          </a:p>
          <a:p/>
          <a:p>
            <a:r>
              <a:t>Do not rush this slide. It is the only one where the audience is entirely</a:t>
            </a:r>
          </a:p>
          <a:p>
            <a:r>
              <a:t>comfortable, and the rest of the talk depends on them agreeing with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right-hand column is the point. None of those three improved when the models</a:t>
            </a:r>
          </a:p>
          <a:p>
            <a:r>
              <a:t>improved, and two of them got worse.</a:t>
            </a:r>
          </a:p>
          <a:p/>
          <a:p>
            <a:r>
              <a:t>Worse how: the artifacts now arrive fluent. A confident, well-written, wrong</a:t>
            </a:r>
          </a:p>
          <a:p>
            <a:r>
              <a:t>document is harder to check than a rough one, because there is nothing to snag</a:t>
            </a:r>
          </a:p>
          <a:p>
            <a:r>
              <a:t>on.</a:t>
            </a:r>
          </a:p>
          <a:p/>
          <a:p>
            <a:r>
              <a:t>If the room is senior, this is where you will see the first nod of genuine</a:t>
            </a:r>
          </a:p>
          <a:p>
            <a:r>
              <a:t>recognition. Wait for it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right down here. This is the emotional centre of the talk and it needs</a:t>
            </a:r>
          </a:p>
          <a:p>
            <a:r>
              <a:t>space.</a:t>
            </a:r>
          </a:p>
          <a:p/>
          <a:p>
            <a:r>
              <a:t>Say plainly that this is not a discipline problem and you are not blaming</a:t>
            </a:r>
          </a:p>
          <a:p>
            <a:r>
              <a:t>reviewers. The reviewer is behaving rationally under a constraint somebody else</a:t>
            </a:r>
          </a:p>
          <a:p>
            <a:r>
              <a:t>handed them. If you get this wrong the room gets defensive and you lose them.</a:t>
            </a:r>
          </a:p>
          <a:p/>
          <a:p>
            <a:r>
              <a:t>The line to land: rubber-stamping is not a behaviour, it is what running out of</a:t>
            </a:r>
          </a:p>
          <a:p>
            <a:r>
              <a:t>review capacity looks like from the inside. Then pause and let it sit.</a:t>
            </a:r>
          </a:p>
          <a:p/>
          <a:p>
            <a:r>
              <a:t>If you want a story here, use one from your own experience rather than a</a:t>
            </a:r>
          </a:p>
          <a:p>
            <a:r>
              <a:t>hypothetical. It has to be real to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inputs, and you can get three of them from a spreadsheet this afternoon.</a:t>
            </a:r>
          </a:p>
          <a:p/>
          <a:p>
            <a:r>
              <a:t>Be honest about R: it is not everyone with the approve button, it is the people</a:t>
            </a:r>
          </a:p>
          <a:p>
            <a:r>
              <a:t>whose sign-off you would defend afterwards. That distinction usually cuts the</a:t>
            </a:r>
          </a:p>
          <a:p>
            <a:r>
              <a:t>number by half and it is the first uncomfortable moment.</a:t>
            </a:r>
          </a:p>
          <a:p/>
          <a:p>
            <a:r>
              <a:t>The fourth input, c, is the one nobody has. Flag it now and come back to it,</a:t>
            </a:r>
          </a:p>
          <a:p>
            <a:r>
              <a:t>because it is the whole talk in one letter.</a:t>
            </a:r>
          </a:p>
          <a:p/>
          <a:p>
            <a:r>
              <a:t>Do not derive anything. It is a division. If somebody wants the derivation they</a:t>
            </a:r>
          </a:p>
          <a:p>
            <a:r>
              <a:t>can read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arithmetic out loud once, slowly. Six times eight is forty-eight, times</a:t>
            </a:r>
          </a:p>
          <a:p>
            <a:r>
              <a:t>0.55 is twenty-six hours, divided by an hour and a quarter is twenty-one.</a:t>
            </a:r>
          </a:p>
          <a:p/>
          <a:p>
            <a:r>
              <a:t>Then the number that matters: forty-nine. Say it as a sentence, not a figure.</a:t>
            </a:r>
          </a:p>
          <a:p>
            <a:r>
              <a:t>Forty-nine times a week, somebody signs their name to a decision they did not</a:t>
            </a:r>
          </a:p>
          <a:p>
            <a:r>
              <a:t>have the capacity to check.</a:t>
            </a:r>
          </a:p>
          <a:p/>
          <a:p>
            <a:r>
              <a:t>Nobody in that team is doing anything wrong. That is worth repeating.</a:t>
            </a:r>
          </a:p>
          <a:p/>
          <a:p>
            <a:r>
              <a:t>If asked whether these numbers are real: no, they are illustrative and the repo</a:t>
            </a:r>
          </a:p>
          <a:p>
            <a:r>
              <a:t>says so on the same page it prints them. Do not oversell.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move people push back on, so say the distinction twice.</a:t>
            </a:r>
          </a:p>
          <a:p/>
          <a:p>
            <a:r>
              <a:t>A worked pair, said out loud: reconciling a forty million pound budget rollup is</a:t>
            </a:r>
          </a:p>
          <a:p>
            <a:r>
              <a:t>high risk and takes a machine nine seconds. Deciding whether to renegotiate a</a:t>
            </a:r>
          </a:p>
          <a:p>
            <a:r>
              <a:t>minor dependency with a partner team is low risk and needs somebody who</a:t>
            </a:r>
          </a:p>
          <a:p>
            <a:r>
              <a:t>remembers what happened in March. Risk and cost of checking are different axes.</a:t>
            </a:r>
          </a:p>
          <a:p/>
          <a:p>
            <a:r>
              <a:t>Class D is where you will get a question. Answer it briefly here and properly on</a:t>
            </a:r>
          </a:p>
          <a:p>
            <a:r>
              <a:t>the maturity slide: a Class D decision has no finite cost of checking, so there</a:t>
            </a:r>
          </a:p>
          <a:p>
            <a:r>
              <a:t>is no amount of it you can afford. That is arithmetic, not caution.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top right and name three things that live there. Portfolio</a:t>
            </a:r>
          </a:p>
          <a:p>
            <a:r>
              <a:t>prioritisation. Vendor dispute strategy. Strategic dependency renegotiation.</a:t>
            </a:r>
          </a:p>
          <a:p/>
          <a:p>
            <a:r>
              <a:t>Say the awkward part: the model is genuinely good at all three. That is not the</a:t>
            </a:r>
          </a:p>
          <a:p>
            <a:r>
              <a:t>problem. The problem is that your review capacity for them is a couple of dozen a</a:t>
            </a:r>
          </a:p>
          <a:p>
            <a:r>
              <a:t>week, so the deployment is capped at a couple of dozen a week no matter how good</a:t>
            </a:r>
          </a:p>
          <a:p>
            <a:r>
              <a:t>the model gets.</a:t>
            </a:r>
          </a:p>
          <a:p/>
          <a:p>
            <a:r>
              <a:t>You do not fix the top right by deploying harder. You fix it by moving work to</a:t>
            </a:r>
          </a:p>
          <a:p>
            <a:r>
              <a:t>the left, which means making the decision cheaper to check. That is engineering</a:t>
            </a:r>
          </a:p>
          <a:p>
            <a:r>
              <a:t>work, not a renaming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half of the talk people came for, so mark the transition clearly.</a:t>
            </a:r>
          </a:p>
          <a:p/>
          <a:p>
            <a:r>
              <a:t>Part 1 was an argument. Part 2 is a design. If they only remember one thing from</a:t>
            </a:r>
          </a:p>
          <a:p>
            <a:r>
              <a:t>here it should be that the five layers are not a maturity model to buy, they are</a:t>
            </a:r>
          </a:p>
          <a:p>
            <a:r>
              <a:t>five questions that each have one right answer once you accept the constraint.</a:t>
            </a:r>
          </a:p>
          <a:p/>
          <a:p>
            <a:r>
              <a:t>Say the running time. There are five layers and you have about twelve minutes,</a:t>
            </a:r>
          </a:p>
          <a:p>
            <a:r>
              <a:t>so nobody should settle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read the table. Give them the shape and move.</a:t>
            </a:r>
          </a:p>
          <a:p/>
          <a:p>
            <a:r>
              <a:t>The line worth saying: every one of these layers already exists in your</a:t>
            </a:r>
          </a:p>
          <a:p>
            <a:r>
              <a:t>organisation. You have processes, roles, governance, technology and metrics</a:t>
            </a:r>
          </a:p>
          <a:p>
            <a:r>
              <a:t>today. None of them were designed around review capacity, because until about</a:t>
            </a:r>
          </a:p>
          <a:p>
            <a:r>
              <a:t>two years ago review capacity was not the binding constraint.</a:t>
            </a:r>
          </a:p>
          <a:p/>
          <a:p>
            <a:r>
              <a:t>Flag layer three as the one that will be new to most of the room, and layer five</a:t>
            </a:r>
          </a:p>
          <a:p>
            <a:r>
              <a:t>as the one that will be uncomfortable.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same idea as the quadrant in Part 1, turned into a sequencing rule</a:t>
            </a:r>
          </a:p>
          <a:p>
            <a:r>
              <a:t>rather than a warning. If you are short on time, say that and move faster here.</a:t>
            </a:r>
          </a:p>
          <a:p/>
          <a:p>
            <a:r>
              <a:t>The sentence that makes it concrete, and it is worth memorising:</a:t>
            </a:r>
          </a:p>
          <a:p/>
          <a:p>
            <a:r>
              <a:t>Risk analysis is the easier AI problem. It should go live later than status</a:t>
            </a:r>
          </a:p>
          <a:p>
            <a:r>
              <a:t>reporting.</a:t>
            </a:r>
          </a:p>
          <a:p/>
          <a:p>
            <a:r>
              <a:t>That inverts what everybody in the room has on their roadmap, and it inverts it</a:t>
            </a:r>
          </a:p>
          <a:p>
            <a:r>
              <a:t>for a reason they can check. Status reporting is checkable against the source</a:t>
            </a:r>
          </a:p>
          <a:p>
            <a:r>
              <a:t>systems in minutes. A risk analysis needs somebody who knows the programme.</a:t>
            </a:r>
          </a:p>
          <a:p/>
          <a:p>
            <a:r>
              <a:t>Expect pushback on the grounds that risk analysis is more valuable. Agree. Value</a:t>
            </a:r>
          </a:p>
          <a:p>
            <a:r>
              <a:t>is not the axis. Value tells you what you want; verification cost tells you what</a:t>
            </a:r>
          </a:p>
          <a:p>
            <a:r>
              <a:t>you can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why the number is four rather than a longer, safer-looking list. A contract</a:t>
            </a:r>
          </a:p>
          <a:p>
            <a:r>
              <a:t>gets read twice: once at approval when everyone is calm, and once during an</a:t>
            </a:r>
          </a:p>
          <a:p>
            <a:r>
              <a:t>incident. Only the second reading matters, and a fifteen-field contract fails it.</a:t>
            </a:r>
          </a:p>
          <a:p/>
          <a:p>
            <a:r>
              <a:t>Revocation is the one people leave out, and the one to press on. Ask the room:</a:t>
            </a:r>
          </a:p>
          <a:p>
            <a:r>
              <a:t>who here could turn off their AI tooling this afternoon without a meeting. It</a:t>
            </a:r>
          </a:p>
          <a:p>
            <a:r>
              <a:t>usually goes quiet.</a:t>
            </a:r>
          </a:p>
          <a:p/>
          <a:p>
            <a:r>
              <a:t>If somebody says four is too few, the answer is that rate limits go in scope,</a:t>
            </a:r>
          </a:p>
          <a:p>
            <a:r>
              <a:t>retention goes in evidence, on-call goes in escalation, and the kill switch goes</a:t>
            </a:r>
          </a:p>
          <a:p>
            <a:r>
              <a:t>in revocation. Nothing genuine has needed a fifth.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people photograph, so leave it up a beat longer than feels</a:t>
            </a:r>
          </a:p>
          <a:p>
            <a:r>
              <a:t>comfortable.</a:t>
            </a:r>
          </a:p>
          <a:p/>
          <a:p>
            <a:r>
              <a:t>The three existing roles do not disappear, they invert. The project manager</a:t>
            </a:r>
          </a:p>
          <a:p>
            <a:r>
              <a:t>stops chasing and starts checking. That is a real change to somebody's job and</a:t>
            </a:r>
          </a:p>
          <a:p>
            <a:r>
              <a:t>worth saying plainly rather than dressing up.</a:t>
            </a:r>
          </a:p>
          <a:p/>
          <a:p>
            <a:r>
              <a:t>The two new roles are the point. Say why they get skipped: they are not</a:t>
            </a:r>
          </a:p>
          <a:p>
            <a:r>
              <a:t>technical, so no budget line obviously owns them, and they are accountability</a:t>
            </a:r>
          </a:p>
          <a:p>
            <a:r>
              <a:t>rather than delivery, so nobody volunteers.</a:t>
            </a:r>
          </a:p>
          <a:p/>
          <a:p>
            <a:r>
              <a:t>If asked whether these are full-time: at forty projects, the verification lead</a:t>
            </a:r>
          </a:p>
          <a:p>
            <a:r>
              <a:t>is a day a week and the agent steward is two. They are not headcount, they are</a:t>
            </a:r>
          </a:p>
          <a:p>
            <a:r>
              <a:t>named responsibility. But they have to be named, because a budget nobody owns is</a:t>
            </a:r>
          </a:p>
          <a:p>
            <a:r>
              <a:t>a budget nobody defends.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ladder is easy to follow, so spend your time on the last line instead.</a:t>
            </a:r>
          </a:p>
          <a:p/>
          <a:p>
            <a:r>
              <a:t>Almost every governance framework people have seen gates on confidence: high</a:t>
            </a:r>
          </a:p>
          <a:p>
            <a:r>
              <a:t>confidence gets more autonomy. Say why that is backwards. Confidence is the</a:t>
            </a:r>
          </a:p>
          <a:p>
            <a:r>
              <a:t>agent's opinion of itself, and it is exactly as trustworthy as the thing you were</a:t>
            </a:r>
          </a:p>
          <a:p>
            <a:r>
              <a:t>trying to check. Blast radius is a property of the decision, and it is knowable</a:t>
            </a:r>
          </a:p>
          <a:p>
            <a:r>
              <a:t>before the agent runs.</a:t>
            </a:r>
          </a:p>
          <a:p/>
          <a:p>
            <a:r>
              <a:t>If somebody asks how this relates to the four classes: classes tell you what</a:t>
            </a:r>
          </a:p>
          <a:p>
            <a:r>
              <a:t>checking costs, blast radius tells you what happens if you get it wrong. Class</a:t>
            </a:r>
          </a:p>
          <a:p>
            <a:r>
              <a:t>sizes the budget, blast radius sets the authority. You need both, and they are</a:t>
            </a:r>
          </a:p>
          <a:p>
            <a:r>
              <a:t>not the same axis.</a:t>
            </a:r>
          </a:p>
          <a:p/>
          <a:p>
            <a:r>
              <a:t>The practical version: you can build this table in an afternoon with your</a:t>
            </a:r>
          </a:p>
          <a:p>
            <a:r>
              <a:t>existing delegated authority matrix. Most organisations already have one for</a:t>
            </a:r>
          </a:p>
          <a:p>
            <a:r>
              <a:t>spend. This is the same idea pointed at reversibility.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people miss: this is not an audit trail. An audit trail is built for</a:t>
            </a:r>
          </a:p>
          <a:p>
            <a:r>
              <a:t>reconstructing the past months later. This is built for making the next review</a:t>
            </a:r>
          </a:p>
          <a:p>
            <a:r>
              <a:t>fast this afternoon. Those two goals produce different documents and only one of</a:t>
            </a:r>
          </a:p>
          <a:p>
            <a:r>
              <a:t>them changes the budget.</a:t>
            </a:r>
          </a:p>
          <a:p/>
          <a:p>
            <a:r>
              <a:t>The evidence for field two: ask any reviewer where the time goes on a hard</a:t>
            </a:r>
          </a:p>
          <a:p>
            <a:r>
              <a:t>review. It is not the judgement, it is re-finding the inputs. Typically half.</a:t>
            </a:r>
          </a:p>
          <a:p/>
          <a:p>
            <a:r>
              <a:t>Field three has a subtle mechanism worth explaining if you have time. Without it,</a:t>
            </a:r>
          </a:p>
          <a:p>
            <a:r>
              <a:t>the reviewer's question is "is this right", which is unbounded. With it, the</a:t>
            </a:r>
          </a:p>
          <a:p>
            <a:r>
              <a:t>question becomes "is one of these rejection reasons wrong", which is a list you</a:t>
            </a:r>
          </a:p>
          <a:p>
            <a:r>
              <a:t>can get to the end 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the arrows left to right with your hand once, then stop and talk about the</a:t>
            </a:r>
          </a:p>
          <a:p>
            <a:r>
              <a:t>line at the bottom, because that is the whole slide.</a:t>
            </a:r>
          </a:p>
          <a:p/>
          <a:p>
            <a:r>
              <a:t>Most teams put the governance boundary at the model: what may the agent see,</a:t>
            </a:r>
          </a:p>
          <a:p>
            <a:r>
              <a:t>what may it be asked. That is the wrong boundary, because reading is not where</a:t>
            </a:r>
          </a:p>
          <a:p>
            <a:r>
              <a:t>the risk is. The boundary belongs on the write path. An agent that reads</a:t>
            </a:r>
          </a:p>
          <a:p>
            <a:r>
              <a:t>everything and writes nothing until a check clears is a safe agent, whatever</a:t>
            </a:r>
          </a:p>
          <a:p>
            <a:r>
              <a:t>else it is doing.</a:t>
            </a:r>
          </a:p>
          <a:p/>
          <a:p>
            <a:r>
              <a:t>This also gives you a cheap architectural test that anybody can apply. Ask of any</a:t>
            </a:r>
          </a:p>
          <a:p>
            <a:r>
              <a:t>proposed integration: can this agent write to a source system without a</a:t>
            </a:r>
          </a:p>
          <a:p>
            <a:r>
              <a:t>verification step in between? If yes, the boundary is in the wrong place, and no</a:t>
            </a:r>
          </a:p>
          <a:p>
            <a:r>
              <a:t>amount of prompt engineering fixes that.</a:t>
            </a:r>
          </a:p>
          <a:p/>
          <a:p>
            <a:r>
              <a:t>Note the analysts are marked propose only. That is Class C from Part 1 showing up</a:t>
            </a:r>
          </a:p>
          <a:p>
            <a:r>
              <a:t>in the architecture rather than in a policy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part that is genuinely new, so give it room. It is also the part</a:t>
            </a:r>
          </a:p>
          <a:p>
            <a:r>
              <a:t>that is easiest to sell badly, so lead with the rules rather than the upside.</a:t>
            </a:r>
          </a:p>
          <a:p/>
          <a:p>
            <a:r>
              <a:t>Rule two is the one to press on. An agent checking an agent is a lovely diagram</a:t>
            </a:r>
          </a:p>
          <a:p>
            <a:r>
              <a:t>and a risk transfer unless somebody has measured its miss rate against decisions</a:t>
            </a:r>
          </a:p>
          <a:p>
            <a:r>
              <a:t>known to be bad. Until then it is an opinion with a confident tone.</a:t>
            </a:r>
          </a:p>
          <a:p/>
          <a:p>
            <a:r>
              <a:t>There is a sting worth mentioning if the room is technical: the verifier closes</a:t>
            </a:r>
          </a:p>
          <a:p>
            <a:r>
              <a:t>the easy ones first, so the queue that reaches the human gets harder, so c goes</a:t>
            </a:r>
          </a:p>
          <a:p>
            <a:r>
              <a:t>up as k goes up. Re-measure after every change. The repo says the framework has</a:t>
            </a:r>
          </a:p>
          <a:p>
            <a:r>
              <a:t>no clean correction for this, which is the honest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read the table. Point at row three and say that is the one that matters,</a:t>
            </a:r>
          </a:p>
          <a:p>
            <a:r>
              <a:t>and the next slide is entirely about it.</a:t>
            </a:r>
          </a:p>
          <a:p/>
          <a:p>
            <a:r>
              <a:t>The averaging warning is worth ten seconds because it is the mistake everyone</a:t>
            </a:r>
          </a:p>
          <a:p>
            <a:r>
              <a:t>makes on their first dashboard. One healthy class covers a failing one and the</a:t>
            </a:r>
          </a:p>
          <a:p>
            <a:r>
              <a:t>board sees a green light.</a:t>
            </a:r>
          </a:p>
          <a:p/>
          <a:p>
            <a:r>
              <a:t>If somebody asks why only six: because a PMO director has to be able to hold</a:t>
            </a:r>
          </a:p>
          <a:p>
            <a:r>
              <a:t>them, and because every one of them changes a decision. A metric that does not</a:t>
            </a:r>
          </a:p>
          <a:p>
            <a:r>
              <a:t>change a decision is a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last line twice and mean it. If your organisation cannot resist using</a:t>
            </a:r>
          </a:p>
          <a:p>
            <a:r>
              <a:t>this against people, do not collect it at all. A corrupted metric is worse than a</a:t>
            </a:r>
          </a:p>
          <a:p>
            <a:r>
              <a:t>missing one, because a missing one does not tell you everything is fine.</a:t>
            </a:r>
          </a:p>
          <a:p/>
          <a:p>
            <a:r>
              <a:t>The tenth percentile rather than the average, because you are not trying to catch</a:t>
            </a:r>
          </a:p>
          <a:p>
            <a:r>
              <a:t>fast reviewers. Fast reviewers are good. You are trying to catch reviews that</a:t>
            </a:r>
          </a:p>
          <a:p>
            <a:r>
              <a:t>could not have happened.</a:t>
            </a:r>
          </a:p>
          <a:p/>
          <a:p>
            <a:r>
              <a:t>There is a lag worth mentioning: the overdraft turns into backlog first, then</a:t>
            </a:r>
          </a:p>
          <a:p>
            <a:r>
              <a:t>late nights, then drift. It usually takes about six weeks to show, which is why</a:t>
            </a:r>
          </a:p>
          <a:p>
            <a:r>
              <a:t>people conclude the overdraft was harmless. It was not. It was queued.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most useful slide in Part 2 and it is worth slowing down for.</a:t>
            </a:r>
          </a:p>
          <a:p/>
          <a:p>
            <a:r>
              <a:t>Every one of those four numbers is a metric a real PMO reports today. Not one of</a:t>
            </a:r>
          </a:p>
          <a:p>
            <a:r>
              <a:t>them can see the failure. Worse, three of them move in the direction that looks</a:t>
            </a:r>
          </a:p>
          <a:p>
            <a:r>
              <a:t>like success while the failure gets worse: approvals rise because approving got</a:t>
            </a:r>
          </a:p>
          <a:p>
            <a:r>
              <a:t>faster, cycle time falls for the same reason, and reversals fall because nobody</a:t>
            </a:r>
          </a:p>
          <a:p>
            <a:r>
              <a:t>is looking hard enough to find the errors.</a:t>
            </a:r>
          </a:p>
          <a:p/>
          <a:p>
            <a:r>
              <a:t>The reversal rate is the cruellest one. It falls, and it looks like quality</a:t>
            </a:r>
          </a:p>
          <a:p>
            <a:r>
              <a:t>improving. It is falling because detection stopped.</a:t>
            </a:r>
          </a:p>
          <a:p/>
          <a:p>
            <a:r>
              <a:t>Then the instruction, which is a governance decision rather than a technical one:</a:t>
            </a:r>
          </a:p>
          <a:p>
            <a:r>
              <a:t>put drift on the same page as the four green numbers. Not in an appendix, not on</a:t>
            </a:r>
          </a:p>
          <a:p>
            <a:r>
              <a:t>a separate dashboard. On the same page, where a board has to look at it in the</a:t>
            </a:r>
          </a:p>
          <a:p>
            <a:r>
              <a:t>same glance.</a:t>
            </a:r>
          </a:p>
          <a:p/>
          <a:p>
            <a:r>
              <a:t>The figures here are illustrative. Say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That last line usually gets a laugh. Let it, then make the serious point: every</a:t>
            </a:r>
          </a:p>
          <a:p>
            <a:r>
              <a:t>one of these has a threshold in the repo, and the runners are there too, so this</a:t>
            </a:r>
          </a:p>
          <a:p>
            <a:r>
              <a:t>is not a slide of good intentions.</a:t>
            </a:r>
          </a:p>
          <a:p/>
          <a:p>
            <a:r>
              <a:t>Gate one fails more often than teams expect, and that failure is the most useful</a:t>
            </a:r>
          </a:p>
          <a:p>
            <a:r>
              <a:t>thing it produces. If two qualified people cannot agree what class something is,</a:t>
            </a:r>
          </a:p>
          <a:p>
            <a:r>
              <a:t>every number downstream is decoration.</a:t>
            </a:r>
          </a:p>
          <a:p/>
          <a:p>
            <a:r>
              <a:t>The replay gate has a criterion people find strange and it is worth the thirty</a:t>
            </a:r>
          </a:p>
          <a:p>
            <a:r>
              <a:t>seconds: if the agent disagrees with history and turns out to be right, it still</a:t>
            </a:r>
          </a:p>
          <a:p>
            <a:r>
              <a:t>fails unless a reviewer could adjudicate that disagreement inside the budgeted</a:t>
            </a:r>
          </a:p>
          <a:p>
            <a:r>
              <a:t>time. A right answer nobody can check is not 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Short transition. Signal that the design half is over and the ask is coming, so</a:t>
            </a:r>
          </a:p>
          <a:p>
            <a:r>
              <a:t>anybody who has been taking notes knows to stop and listen.</a:t>
            </a:r>
          </a:p>
          <a:p/>
          <a:p>
            <a:r>
              <a:t>You have about six minutes left at this point. Say it, so people know questions</a:t>
            </a:r>
          </a:p>
          <a:p>
            <a:r>
              <a:t>are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walk all five. Give them the one-question test and let them place</a:t>
            </a:r>
          </a:p>
          <a:p>
            <a:r>
              <a:t>themselves privately. That lands harder than a description.</a:t>
            </a:r>
          </a:p>
          <a:p/>
          <a:p>
            <a:r>
              <a:t>The hard step is S1 to S2, and it is not technical. It is being willing to say no</a:t>
            </a:r>
          </a:p>
          <a:p>
            <a:r>
              <a:t>to a deployment that is over budget. Everything before that is measurement and</a:t>
            </a:r>
          </a:p>
          <a:p>
            <a:r>
              <a:t>everything after is engineering.</a:t>
            </a:r>
          </a:p>
          <a:p/>
          <a:p>
            <a:r>
              <a:t>Then why there is no S5, which is the part people remember. S5 would be a system</a:t>
            </a:r>
          </a:p>
          <a:p>
            <a:r>
              <a:t>that sets its own risk appetite and audits its own drift: no human in the loop at</a:t>
            </a:r>
          </a:p>
          <a:p>
            <a:r>
              <a:t>all. That is not more mature, it is the removal of the thing the model exists to</a:t>
            </a:r>
          </a:p>
          <a:p>
            <a:r>
              <a:t>manage.</a:t>
            </a:r>
          </a:p>
          <a:p/>
          <a:p>
            <a:r>
              <a:t>The line: such a system might still be right. It just could not be known to be</a:t>
            </a:r>
          </a:p>
          <a:p>
            <a:r>
              <a:t>right by the people running it, and an organisation that cannot know is not</a:t>
            </a:r>
          </a:p>
          <a:p>
            <a:r>
              <a:t>governing, it is hoping.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apologise your way through this slide. Deliver it flat and fast. It buys</a:t>
            </a:r>
          </a:p>
          <a:p>
            <a:r>
              <a:t>more credibility than anything else in the talk, and a framework that hides its</a:t>
            </a:r>
          </a:p>
          <a:p>
            <a:r>
              <a:t>weak points gets adopted and then quietly dropped.</a:t>
            </a:r>
          </a:p>
          <a:p/>
          <a:p>
            <a:r>
              <a:t>The bursts one is a real invitation. If anybody in the room knows queueing theory</a:t>
            </a:r>
          </a:p>
          <a:p>
            <a:r>
              <a:t>you want them to find you afterwards, so say that out loud.</a:t>
            </a:r>
          </a:p>
          <a:p/>
          <a:p>
            <a:r>
              <a:t>On the last point: be blunt that the numbers are illustrative. Somebody will</a:t>
            </a:r>
          </a:p>
          <a:p>
            <a:r>
              <a:t>screenshot a figure and repost it, and you want to have said this clearly enough</a:t>
            </a:r>
          </a:p>
          <a:p>
            <a:r>
              <a:t>that it is on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they leave with, so make it feel small. Everything before this was</a:t>
            </a:r>
          </a:p>
          <a:p>
            <a:r>
              <a:t>the argument; this is the ask, and the ask has to be doable by one person without</a:t>
            </a:r>
          </a:p>
          <a:p>
            <a:r>
              <a:t>permission.</a:t>
            </a:r>
          </a:p>
          <a:p/>
          <a:p>
            <a:r>
              <a:t>Step two is the one that gets skipped and it is the one that makes the number</a:t>
            </a:r>
          </a:p>
          <a:p>
            <a:r>
              <a:t>mean anything. Without that question you are measuring how long approvals take,</a:t>
            </a:r>
          </a:p>
          <a:p>
            <a:r>
              <a:t>not how long checking takes, and under overdraft those are different quantities.</a:t>
            </a:r>
          </a:p>
          <a:p/>
          <a:p>
            <a:r>
              <a:t>End on the last line rather than on an exhortation. Knowing the gap is genuinely</a:t>
            </a:r>
          </a:p>
          <a:p>
            <a:r>
              <a:t>the whole of stage one, and saying so lowers the barrier.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this slide up early and leave it up. It should be on screen through the whole</a:t>
            </a:r>
          </a:p>
          <a:p>
            <a:r>
              <a:t>question session so people can photograph it without asking.</a:t>
            </a:r>
          </a:p>
          <a:p/>
          <a:p>
            <a:r>
              <a:t>Say the three things you want, in order. A measured cost of checking from a real</a:t>
            </a:r>
          </a:p>
          <a:p>
            <a:r>
              <a:t>organisation is worth more than any citation. A disagreement about how something</a:t>
            </a:r>
          </a:p>
          <a:p>
            <a:r>
              <a:t>should be classified. And anybody who knows queueing theory.</a:t>
            </a:r>
          </a:p>
          <a:p/>
          <a:p>
            <a:r>
              <a:t>Then stop talking. Do not summarise the talk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1874519"/>
            <a:ext cx="914400" cy="24765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212848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5400" b="1" i="0">
                <a:solidFill>
                  <a:srgbClr val="F7F6F3"/>
                </a:solidFill>
                <a:latin typeface="Cambria"/>
              </a:rPr>
              <a:t>The Verification Budget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986784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C9C6BF"/>
                </a:solidFill>
                <a:latin typeface="Cambria"/>
              </a:rPr>
              <a:t>An operating model for autonomous AI in project delivery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C9C6BF"/>
                </a:solidFill>
                <a:latin typeface="Cambria"/>
              </a:rPr>
              <a:t>and end to end PMO.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230368"/>
            <a:ext cx="10637215" cy="11430"/>
          </a:xfrm>
          <a:prstGeom prst="rect">
            <a:avLst/>
          </a:prstGeom>
          <a:solidFill>
            <a:srgbClr val="2B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41324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F7F6F3"/>
                </a:solidFill>
                <a:latin typeface="Calibri"/>
              </a:rPr>
              <a:t>Hotragn Pettugani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54132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7FD8C2"/>
                </a:solidFill>
                <a:latin typeface="Calibri"/>
              </a:rPr>
              <a:t>github.com/hotragn/verb          x.com/hotragn          linkedin.com/in/hotragn-pettugani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03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7FD8C2"/>
                </a:solidFill>
                <a:latin typeface="Calibri"/>
              </a:rPr>
              <a:t>PART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487168"/>
            <a:ext cx="1828800" cy="11430"/>
          </a:xfrm>
          <a:prstGeom prst="rect">
            <a:avLst/>
          </a:prstGeom>
          <a:solidFill>
            <a:srgbClr val="2B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761488"/>
            <a:ext cx="8686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400" b="1" i="0">
                <a:solidFill>
                  <a:srgbClr val="F7F6F3"/>
                </a:solidFill>
                <a:latin typeface="Cambria"/>
              </a:rPr>
              <a:t>Why the constraint moved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68496"/>
            <a:ext cx="6949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800" b="0" i="0">
                <a:solidFill>
                  <a:srgbClr val="C9C6BF"/>
                </a:solidFill>
                <a:latin typeface="Cambria"/>
              </a:rPr>
              <a:t>Production stopped being scarce. Review did not.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CONSTRAINT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3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For thirty years, the scarce thing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was getting the work done.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87168"/>
            <a:ext cx="6492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600" b="0" i="0">
                <a:solidFill>
                  <a:srgbClr val="2A333B"/>
                </a:solidFill>
                <a:latin typeface="Calibri"/>
              </a:rPr>
              <a:t>Somebody had to write the status report, chase the risk owners, rebuild the forecast after the change request landed. Capacity meant counting the people who could make those things.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50208"/>
            <a:ext cx="6492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4000"/>
              </a:lnSpc>
            </a:pPr>
            <a:r>
              <a:rPr sz="2000" b="1" i="0">
                <a:solidFill>
                  <a:srgbClr val="101418"/>
                </a:solidFill>
                <a:latin typeface="Calibri"/>
              </a:rPr>
              <a:t>That is over. </a:t>
            </a:r>
            <a:r>
              <a:rPr sz="2000" b="0" i="0">
                <a:solidFill>
                  <a:srgbClr val="2A333B"/>
                </a:solidFill>
                <a:latin typeface="Calibri"/>
              </a:rPr>
              <a:t>An agent produces a defensible status pack for forty projects in the time it takes you to open the file.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73568" y="2487168"/>
            <a:ext cx="3429000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73568" y="2615184"/>
            <a:ext cx="3429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WHERE THIS COMES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73568" y="2907792"/>
            <a:ext cx="3429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Not a prediction. This is what teams running agents in delivery are reporting right now.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CONSTRAINT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4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The number that did not move is review.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57984"/>
            <a:ext cx="4907127" cy="2084831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395728"/>
            <a:ext cx="4248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6B7780"/>
                </a:solidFill>
                <a:latin typeface="Calibri"/>
              </a:rPr>
              <a:t>WENT UP, A 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" y="2798064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2A333B"/>
                </a:solidFill>
                <a:latin typeface="Calibri"/>
              </a:rPr>
              <a:t>Decisions produced per week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06424" y="3127248"/>
            <a:ext cx="4248759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3218688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2A333B"/>
                </a:solidFill>
                <a:latin typeface="Calibri"/>
              </a:rPr>
              <a:t>Speed of production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06424" y="3547872"/>
            <a:ext cx="4248759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6424" y="3639312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2A333B"/>
                </a:solidFill>
                <a:latin typeface="Calibri"/>
              </a:rPr>
              <a:t>How polished the output looks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07327" y="2157984"/>
            <a:ext cx="4907127" cy="2084831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6511" y="2395728"/>
            <a:ext cx="4248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101418"/>
                </a:solidFill>
                <a:latin typeface="Calibri"/>
              </a:rPr>
              <a:t>DID NOT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6511" y="2798064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101418"/>
                </a:solidFill>
                <a:latin typeface="Calibri"/>
              </a:rPr>
              <a:t>People qualified to judge the decision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36511" y="3127248"/>
            <a:ext cx="4248759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36511" y="3218688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101418"/>
                </a:solidFill>
                <a:latin typeface="Calibri"/>
              </a:rPr>
              <a:t>Hours they actually have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36511" y="3547872"/>
            <a:ext cx="4248759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6511" y="3639312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101418"/>
                </a:solidFill>
                <a:latin typeface="Calibri"/>
              </a:rPr>
              <a:t>Time one honest check takes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626864"/>
            <a:ext cx="9692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4000"/>
              </a:lnSpc>
            </a:pPr>
            <a:r>
              <a:rPr sz="2000" b="0" i="0">
                <a:solidFill>
                  <a:srgbClr val="2A333B"/>
                </a:solidFill>
                <a:latin typeface="Calibri"/>
              </a:rPr>
              <a:t>When production runs past review capacity, the extra work does not stop. </a:t>
            </a:r>
            <a:r>
              <a:rPr sz="2000" b="1" i="0">
                <a:solidFill>
                  <a:srgbClr val="101418"/>
                </a:solidFill>
                <a:latin typeface="Calibri"/>
              </a:rPr>
              <a:t>It gets approved anyway.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CONSTRAINT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5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Nobody decides to rubber-stamp.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31136"/>
            <a:ext cx="6766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200" b="0" i="0">
                <a:solidFill>
                  <a:srgbClr val="101418"/>
                </a:solidFill>
                <a:latin typeface="Cambria"/>
              </a:rPr>
              <a:t>A reviewer with eleven minutes and nineteen items in the queue produces nineteen approvals.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456432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500" b="0" i="0">
                <a:solidFill>
                  <a:srgbClr val="2A333B"/>
                </a:solidFill>
                <a:latin typeface="Calibri"/>
              </a:rPr>
              <a:t>Every one is recorded as a review. The governance record is intact. The governance is not. There is no error message for this, and it looks exactly like a working PMO right up until something goes wrong and nobody can reconstruct who checked what.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73568" y="2231136"/>
            <a:ext cx="3429000" cy="2286000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4464" y="250545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A34432"/>
                </a:solidFill>
                <a:latin typeface="Calibri"/>
              </a:rPr>
              <a:t>SILENT DRIFT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2871216"/>
            <a:ext cx="2834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400" b="0" i="0">
                <a:solidFill>
                  <a:srgbClr val="101418"/>
                </a:solidFill>
                <a:latin typeface="Calibri"/>
              </a:rPr>
              <a:t>The gap between approvals recorded and reviews genuinely done.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400" b="0" i="0">
                <a:solidFill>
                  <a:srgbClr val="101418"/>
                </a:solidFill>
                <a:latin typeface="Calibri"/>
              </a:rPr>
              <a:t/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400" b="0" i="0">
                <a:solidFill>
                  <a:srgbClr val="101418"/>
                </a:solidFill>
                <a:latin typeface="Calibri"/>
              </a:rPr>
              <a:t>Silent because the system records it as success.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047488"/>
            <a:ext cx="6766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500" b="0" i="1">
                <a:solidFill>
                  <a:srgbClr val="6B7780"/>
                </a:solidFill>
                <a:latin typeface="Calibri"/>
              </a:rPr>
              <a:t>It is not a discipline problem. The reviewer is behaving rationally under a constraint somebody else handed them.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VERIFICATION BUDGET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6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So put a number on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39696"/>
            <a:ext cx="10637215" cy="1243584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87168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200" b="1" i="0">
                <a:solidFill>
                  <a:srgbClr val="101418"/>
                </a:solidFill>
                <a:latin typeface="Cambria"/>
              </a:rPr>
              <a:t>VB   =   ( R  x  H  x  u )   /   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785615"/>
            <a:ext cx="4998567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913631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 i="0">
                <a:solidFill>
                  <a:srgbClr val="1F3A34"/>
                </a:solidFill>
                <a:latin typeface="Cambria"/>
              </a:rPr>
              <a:t>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3931920"/>
            <a:ext cx="452307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People genuinely qualified to judge it. Not everyone with the approve button.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15887" y="3785615"/>
            <a:ext cx="4998567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3913631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 i="0">
                <a:solidFill>
                  <a:srgbClr val="1F3A34"/>
                </a:solidFill>
                <a:latin typeface="Cambria"/>
              </a:rPr>
              <a:t>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1375" y="3931920"/>
            <a:ext cx="452307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Hours a week each of them has set aside for reviewing.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754879"/>
            <a:ext cx="4998567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882895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 i="0">
                <a:solidFill>
                  <a:srgbClr val="1F3A34"/>
                </a:solidFill>
                <a:latin typeface="Cambria"/>
              </a:rPr>
              <a:t>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4901183"/>
            <a:ext cx="452307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The share of those hours that survives the calendar.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15887" y="4754879"/>
            <a:ext cx="4998567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5887" y="4882895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 i="0">
                <a:solidFill>
                  <a:srgbClr val="1F3A34"/>
                </a:solidFill>
                <a:latin typeface="Cambria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91375" y="4901183"/>
            <a:ext cx="452307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Hours to genuinely check one decision. The one nobody has.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97296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B7780"/>
                </a:solidFill>
                <a:latin typeface="Calibri"/>
              </a:rPr>
              <a:t>Three of these you can get from a spreadsheet this afternoon.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VERIFICATION BUDGET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7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Six people. Twenty-one decisions.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12848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100" b="1" i="0">
                <a:solidFill>
                  <a:srgbClr val="4A555F"/>
                </a:solidFill>
                <a:latin typeface="Cambria"/>
              </a:rPr>
              <a:t>VB   =   ( 6  x  8  x  0.55 )  /  1.25   =   21 a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999232"/>
            <a:ext cx="3210458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321045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BUDGET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46703"/>
            <a:ext cx="321045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101418"/>
                </a:solidFill>
                <a:latin typeface="Cambria"/>
              </a:rPr>
              <a:t>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059935"/>
            <a:ext cx="3210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6B7780"/>
                </a:solidFill>
                <a:latin typeface="Calibri"/>
              </a:rPr>
              <a:t>re-baselines a week that can genuinely be reviewed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0618" y="2999232"/>
            <a:ext cx="3210458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0618" y="3108960"/>
            <a:ext cx="321045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PRODUCED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3346703"/>
            <a:ext cx="321045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101418"/>
                </a:solidFill>
                <a:latin typeface="Cambria"/>
              </a:rPr>
              <a:t>70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0618" y="4059935"/>
            <a:ext cx="3210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6B7780"/>
                </a:solidFill>
                <a:latin typeface="Calibri"/>
              </a:rPr>
              <a:t>re-baselines a week the agents actually generate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3996" y="2999232"/>
            <a:ext cx="3210458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3996" y="3108960"/>
            <a:ext cx="321045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OVERDRAFT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3996" y="3346703"/>
            <a:ext cx="321045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A34432"/>
                </a:solidFill>
                <a:latin typeface="Cambria"/>
              </a:rPr>
              <a:t>3.3x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4059935"/>
            <a:ext cx="3210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6B7780"/>
                </a:solidFill>
                <a:latin typeface="Calibri"/>
              </a:rPr>
              <a:t>about 49 a week carry an approval nobody could defend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138928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303520"/>
            <a:ext cx="9509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50" b="0" i="0">
                <a:solidFill>
                  <a:srgbClr val="6B7780"/>
                </a:solidFill>
                <a:latin typeface="Calibri"/>
              </a:rPr>
              <a:t>Six people qualified to review a schedule re-baseline, eight review hours each, of which 55 percent survives the calendar, and an honest check takes an hour and a quarter.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FOUR DECISION CLASSES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8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Sort work by how expensive it is to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2728" y="2249424"/>
            <a:ext cx="1920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CLASS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0128" y="2249424"/>
            <a:ext cx="4480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THE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73568" y="2249424"/>
            <a:ext cx="1645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COST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0928" y="2249424"/>
            <a:ext cx="1691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WHO DECIDES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505456"/>
            <a:ext cx="10637215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697479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7F6F3"/>
                </a:solidFill>
                <a:latin typeface="Calibr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2715768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101418"/>
                </a:solidFill>
                <a:latin typeface="Calibri"/>
              </a:rPr>
              <a:t>machine-checkable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0128" y="271576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a test decides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73568" y="2715768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minutes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10928" y="2715768"/>
            <a:ext cx="1691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agent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2278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" y="3355847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3C6E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7F6F3"/>
                </a:solidFill>
                <a:latin typeface="Calibri"/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2728" y="3374135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101418"/>
                </a:solidFill>
                <a:latin typeface="Calibri"/>
              </a:rPr>
              <a:t>sample-checkable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0128" y="337413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check twenty, conclude about two hundred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3568" y="3374135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minutes, spread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10928" y="3374135"/>
            <a:ext cx="1691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agent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886199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7240" y="4014215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B88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7F6F3"/>
                </a:solidFill>
                <a:latin typeface="Calibri"/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52728" y="4032503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101418"/>
                </a:solidFill>
                <a:latin typeface="Calibri"/>
              </a:rPr>
              <a:t>expert-checkable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10128" y="4032503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a qualified person rebuilds the reasoning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73568" y="4032503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hours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10928" y="4032503"/>
            <a:ext cx="1691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agent proposes,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human decides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4544567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77240" y="4672583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A34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7F6F3"/>
                </a:solidFill>
                <a:latin typeface="Calibri"/>
              </a:rPr>
              <a:t>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52728" y="4690871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101418"/>
                </a:solidFill>
                <a:latin typeface="Calibri"/>
              </a:rPr>
              <a:t>not checkable in advance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10128" y="4690871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you only find out afterwards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3568" y="4690871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no answer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10928" y="4690871"/>
            <a:ext cx="1691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human, always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5202935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5394960"/>
            <a:ext cx="9966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4000"/>
              </a:lnSpc>
            </a:pPr>
            <a:r>
              <a:rPr sz="1500" b="1" i="0">
                <a:solidFill>
                  <a:srgbClr val="101418"/>
                </a:solidFill>
                <a:latin typeface="Calibri"/>
              </a:rPr>
              <a:t>Not by risk. </a:t>
            </a:r>
            <a:r>
              <a:rPr sz="1500" b="0" i="0">
                <a:solidFill>
                  <a:srgbClr val="2A333B"/>
                </a:solidFill>
                <a:latin typeface="Calibri"/>
              </a:rPr>
              <a:t>Risk tells you whether you must check. This tells you what checking costs. You need both, and most governance frameworks only have the first.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DEPLOYMENT INVERSION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9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01418"/>
                </a:solidFill>
                <a:latin typeface="Cambria"/>
              </a:rPr>
              <a:t>Deploy where checking is cheap,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01418"/>
                </a:solidFill>
                <a:latin typeface="Cambria"/>
              </a:rPr>
              <a:t>not where the task is easy.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871215"/>
            <a:ext cx="2871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1F7A5C"/>
                </a:solidFill>
                <a:latin typeface="Calibri"/>
              </a:rPr>
              <a:t>DEPLOY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218688"/>
            <a:ext cx="2871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Model is good at it and checking is cheap. This is the whole game, and it is less glamorous than the other box.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6552" y="2871215"/>
            <a:ext cx="2871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A34432"/>
                </a:solidFill>
                <a:latin typeface="Calibri"/>
              </a:rPr>
              <a:t>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552" y="3218688"/>
            <a:ext cx="2871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Model is good at it and checking is expensive. Every impressive demo lives here. So does every overdraft.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4471416"/>
            <a:ext cx="2871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6B7780"/>
                </a:solidFill>
                <a:latin typeface="Calibri"/>
              </a:rPr>
              <a:t>WAIT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1" y="4818888"/>
            <a:ext cx="2871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Cheap to check, model is not there yet. Harmless. Revisit next year.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552" y="4471416"/>
            <a:ext cx="2871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6B7780"/>
                </a:solidFill>
                <a:latin typeface="Calibri"/>
              </a:rPr>
              <a:t>DO NOT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4818888"/>
            <a:ext cx="2871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Expensive to check and the model is weak. No path from here.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615184"/>
            <a:ext cx="6766560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215383"/>
            <a:ext cx="6766560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5815583"/>
            <a:ext cx="6766560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615184"/>
            <a:ext cx="8572" cy="3200400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60520" y="2615184"/>
            <a:ext cx="8572" cy="32004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543800" y="2615184"/>
            <a:ext cx="8572" cy="3200400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304288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COST OF CHECKING, CHEAP ON THE LEFT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961888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MODEL CAPABILITY, HIGHER AT THE TOP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63840" y="2615184"/>
            <a:ext cx="3538728" cy="3200400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74736" y="2907792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600" b="1" i="0">
                <a:solidFill>
                  <a:srgbClr val="101418"/>
                </a:solidFill>
                <a:latin typeface="Cambria"/>
              </a:rPr>
              <a:t>The top right is where every impressive demo lives.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74736" y="3712463"/>
            <a:ext cx="29260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2A333B"/>
                </a:solidFill>
                <a:latin typeface="Calibri"/>
              </a:rPr>
              <a:t>Portfolio prioritisation.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2A333B"/>
                </a:solidFill>
                <a:latin typeface="Calibri"/>
              </a:rPr>
              <a:t>Vendor dispute strategy.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2A333B"/>
                </a:solidFill>
                <a:latin typeface="Calibri"/>
              </a:rPr>
              <a:t>Strategic dependency renegotiation.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2A333B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2A333B"/>
                </a:solidFill>
                <a:latin typeface="Calibri"/>
              </a:rPr>
              <a:t>The models are genuinely good at all three. That is not the problem. The problem is that your review capacity for them is a couple of dozen a week.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03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7FD8C2"/>
                </a:solidFill>
                <a:latin typeface="Calibri"/>
              </a:rPr>
              <a:t>PART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487168"/>
            <a:ext cx="1828800" cy="11430"/>
          </a:xfrm>
          <a:prstGeom prst="rect">
            <a:avLst/>
          </a:prstGeom>
          <a:solidFill>
            <a:srgbClr val="2B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761488"/>
            <a:ext cx="8686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400" b="1" i="0">
                <a:solidFill>
                  <a:srgbClr val="F7F6F3"/>
                </a:solidFill>
                <a:latin typeface="Cambria"/>
              </a:rPr>
              <a:t>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68496"/>
            <a:ext cx="6949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800" b="0" i="0">
                <a:solidFill>
                  <a:srgbClr val="C9C6BF"/>
                </a:solidFill>
                <a:latin typeface="Cambria"/>
              </a:rPr>
              <a:t>Processes, roles, governance, technology and metrics, redesigned around one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PART 2,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11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101418"/>
                </a:solidFill>
                <a:latin typeface="Cambria"/>
              </a:rPr>
              <a:t>Five layers. Each answers a different question.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31136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231136"/>
            <a:ext cx="1920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231136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THE QUESTION IT ANSWERS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31136"/>
            <a:ext cx="37216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THE DESIGN RULE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487168"/>
            <a:ext cx="10625328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36576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651760"/>
            <a:ext cx="1920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Processes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651760"/>
            <a:ext cx="4206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Which decisions go autonomous, and in what order?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651760"/>
            <a:ext cx="3721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Sort by verification cost, not difficulty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127248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18688"/>
            <a:ext cx="36576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18688"/>
            <a:ext cx="1920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Roles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218688"/>
            <a:ext cx="4206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Who owns an agent, and who owns checking it?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218688"/>
            <a:ext cx="3721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An agent role contract, four mandatory fields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94176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785615"/>
            <a:ext cx="36576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3785615"/>
            <a:ext cx="1920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Governance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3785615"/>
            <a:ext cx="4206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Where does authority stop and escalation start?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3785615"/>
            <a:ext cx="3721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Decision rights tied to blast radius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261104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352544"/>
            <a:ext cx="36576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352544"/>
            <a:ext cx="1920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Technology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352544"/>
            <a:ext cx="4206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What must the system emit to make checking cheap?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4352544"/>
            <a:ext cx="3721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The evidence plane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4828032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36576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4919472"/>
            <a:ext cx="1920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Metrics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4919472"/>
            <a:ext cx="4206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How do we know supervision is still real?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4919472"/>
            <a:ext cx="3721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Six measures, one of them uncomfortable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94960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504688"/>
            <a:ext cx="10424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1">
                <a:solidFill>
                  <a:srgbClr val="6B7780"/>
                </a:solidFill>
                <a:latin typeface="Calibri"/>
              </a:rPr>
              <a:t>Nothing here is a new department. Four of the five are things you already have, redesigned around a constraint you did not previously have a number for.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LAYER 1, PROCESSES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12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101418"/>
                </a:solidFill>
                <a:latin typeface="Cambria"/>
              </a:rPr>
              <a:t>The deployment order most PMOs use is backwards.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3" y="2651760"/>
            <a:ext cx="26791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1F7A5C"/>
                </a:solidFill>
                <a:latin typeface="Calibri"/>
              </a:rPr>
              <a:t>GO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962656"/>
            <a:ext cx="26791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A333B"/>
                </a:solidFill>
                <a:latin typeface="Calibri"/>
              </a:rPr>
              <a:t>Easy to build, cheap to check. Start here today, and it is the only box that scales.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9663" y="2651760"/>
            <a:ext cx="26791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A34432"/>
                </a:solidFill>
                <a:latin typeface="Calibri"/>
              </a:rPr>
              <a:t>HOLD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9663" y="2962656"/>
            <a:ext cx="26791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A333B"/>
                </a:solidFill>
                <a:latin typeface="Calibri"/>
              </a:rPr>
              <a:t>Easy to build, expensive to check. The trap, and where every impressive demo lives.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712463"/>
            <a:ext cx="26791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6B7780"/>
                </a:solidFill>
                <a:latin typeface="Calibri"/>
              </a:rPr>
              <a:t>GO SECOND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4023360"/>
            <a:ext cx="26791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A333B"/>
                </a:solidFill>
                <a:latin typeface="Calibri"/>
              </a:rPr>
              <a:t>Hard to build but cheap to check. Worth the engineering.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9663" y="3712463"/>
            <a:ext cx="26791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6B7780"/>
                </a:solidFill>
                <a:latin typeface="Calibri"/>
              </a:rPr>
              <a:t>NEVER YET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9663" y="4023360"/>
            <a:ext cx="26791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A333B"/>
                </a:solidFill>
                <a:latin typeface="Calibri"/>
              </a:rPr>
              <a:t>Hard and expensive to check. Keep it human for now.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450592"/>
            <a:ext cx="6309360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511296"/>
            <a:ext cx="6309360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572000"/>
            <a:ext cx="6309360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450592"/>
            <a:ext cx="8572" cy="2121408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31920" y="2450592"/>
            <a:ext cx="8572" cy="2121408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86600" y="2450592"/>
            <a:ext cx="8572" cy="2121408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157984"/>
            <a:ext cx="6309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>
                <a:solidFill>
                  <a:srgbClr val="6B7780"/>
                </a:solidFill>
                <a:latin typeface="Calibri"/>
              </a:rPr>
              <a:t>TASK DIFFICULTY FOR THE MODEL, EASIER ON THE LEFT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700016"/>
            <a:ext cx="6309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>
                <a:solidFill>
                  <a:srgbClr val="6B7780"/>
                </a:solidFill>
                <a:latin typeface="Calibri"/>
              </a:rPr>
              <a:t>VERIFICATION COST, CHEAPER AT THE TOP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06640" y="2450592"/>
            <a:ext cx="3995928" cy="2121408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99248" y="2651760"/>
            <a:ext cx="3474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WHAT MOST TEAMS 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99248" y="2907792"/>
            <a:ext cx="3474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A333B"/>
                </a:solidFill>
                <a:latin typeface="Calibri"/>
              </a:rPr>
              <a:t>Deploy along the difficulty axis. Easiest first, hardest last. It feels rational and it is how every roadmap gets drawn.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9248" y="3675887"/>
            <a:ext cx="3474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WHAT ACTUALLY GOVERNS YOU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8" y="3950208"/>
            <a:ext cx="3474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A333B"/>
                </a:solidFill>
                <a:latin typeface="Calibri"/>
              </a:rPr>
              <a:t>Deploy along the verification axis. You can only run as much autonomy as you can check.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08406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01418"/>
                </a:solidFill>
                <a:latin typeface="Cambria"/>
              </a:rPr>
              <a:t>Risk analysis is the easier AI problem. It should go live later than status reporting.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AGENT ROLE CONTRACT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13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Every agent gets four fields. Not nine.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49424"/>
            <a:ext cx="5044287" cy="1243584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468880"/>
            <a:ext cx="44224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01418"/>
                </a:solidFill>
                <a:latin typeface="Cambria"/>
              </a:rPr>
              <a:t>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" y="2852928"/>
            <a:ext cx="44224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Which decisions it may make, named one by one. Anything unnamed is out, and running into one is a stop.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70167" y="2249424"/>
            <a:ext cx="5044287" cy="1243584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81063" y="2468880"/>
            <a:ext cx="44224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01418"/>
                </a:solidFill>
                <a:latin typeface="Cambria"/>
              </a:rPr>
              <a:t>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81063" y="2852928"/>
            <a:ext cx="44224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What it must show for every decision. If it cannot produce the evidence, it does not make the decision.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767328"/>
            <a:ext cx="5044287" cy="1243584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3986784"/>
            <a:ext cx="44224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01418"/>
                </a:solidFill>
                <a:latin typeface="Cambria"/>
              </a:rPr>
              <a:t>Escalation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4370832"/>
            <a:ext cx="44224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The named conditions where it stops, and the named human it stops to.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70167" y="3767328"/>
            <a:ext cx="5044287" cy="1243584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81063" y="3986784"/>
            <a:ext cx="44224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01418"/>
                </a:solidFill>
                <a:latin typeface="Cambria"/>
              </a:rPr>
              <a:t>Revocation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81063" y="4370832"/>
            <a:ext cx="44224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How you turn it off, who can, how fast, and what happens to work in flight.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9824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450" b="0" i="1">
                <a:solidFill>
                  <a:srgbClr val="6B7780"/>
                </a:solidFill>
                <a:latin typeface="Calibri"/>
              </a:rPr>
              <a:t>Four is the number somebody can hold in their head at six on a Friday when the thing is misbehaving and a call has to be made. That is the only moment the contract has to 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LAYER 2, ROLES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14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What happens to the people.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9424"/>
            <a:ext cx="2468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2249424"/>
            <a:ext cx="2834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BEFORE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249424"/>
            <a:ext cx="48646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AFTER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505456"/>
            <a:ext cx="10625328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670048"/>
            <a:ext cx="246888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Project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670048"/>
            <a:ext cx="28346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Coordinator and chaser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670048"/>
            <a:ext cx="4864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Verifier and exception handler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145536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236976"/>
            <a:ext cx="246888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PMO analyst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3236976"/>
            <a:ext cx="28346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Report producer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236976"/>
            <a:ext cx="4864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Owner of the evidence plane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712464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803904"/>
            <a:ext cx="246888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PMO lead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3803904"/>
            <a:ext cx="28346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Process owner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3803904"/>
            <a:ext cx="4864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Owner of decision rights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279392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370832"/>
            <a:ext cx="246888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Agent steward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4370832"/>
            <a:ext cx="28346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does not exist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370832"/>
            <a:ext cx="4864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Owns agent contracts, tracks reversals, retires agents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46320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937760"/>
            <a:ext cx="246888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Verification lead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4937760"/>
            <a:ext cx="28346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does not exist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4937760"/>
            <a:ext cx="4864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Owns the budget, allocates review capacity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413248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72414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1">
                <a:solidFill>
                  <a:srgbClr val="6B7780"/>
                </a:solidFill>
                <a:latin typeface="Calibri"/>
              </a:rPr>
              <a:t>Two new roles. Neither is a data scientist. Both are accountability roles, which is exactly why they get skipped.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LAYER 3, GOVERNANCE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15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101418"/>
                </a:solidFill>
                <a:latin typeface="Cambria"/>
              </a:rPr>
              <a:t>Authority is set by blast radius, not by confidence.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AUTHORITY LEVEL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19456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THE TEST THAT PUTS YOU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2194560"/>
            <a:ext cx="34015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EXAMPLES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450591"/>
            <a:ext cx="10625328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615184"/>
            <a:ext cx="32004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1" i="0">
                <a:solidFill>
                  <a:srgbClr val="101418"/>
                </a:solidFill>
                <a:latin typeface="Calibri"/>
              </a:rPr>
              <a:t>Agent acts, logs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2615184"/>
            <a:ext cx="36576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Reversible within a day, nobody outside affected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2615184"/>
            <a:ext cx="3401568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Reassign a task, update a date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054096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145536"/>
            <a:ext cx="32004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1" i="0">
                <a:solidFill>
                  <a:srgbClr val="101418"/>
                </a:solidFill>
                <a:latin typeface="Calibri"/>
              </a:rPr>
              <a:t>Agent acts, human notified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3145536"/>
            <a:ext cx="36576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Reversible within a week, internal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3145536"/>
            <a:ext cx="3401568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Reallocate slack, reorder a backlog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584447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675887"/>
            <a:ext cx="32004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1" i="0">
                <a:solidFill>
                  <a:srgbClr val="101418"/>
                </a:solidFill>
                <a:latin typeface="Calibri"/>
              </a:rPr>
              <a:t>Agent proposes, one human approves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3675887"/>
            <a:ext cx="36576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Reversible with effort, or affects one team plan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3675887"/>
            <a:ext cx="3401568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Move a milestone, change a resource split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114800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206240"/>
            <a:ext cx="32004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1" i="0">
                <a:solidFill>
                  <a:srgbClr val="101418"/>
                </a:solidFill>
                <a:latin typeface="Calibri"/>
              </a:rPr>
              <a:t>Agent proposes, a committee approves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60520" y="4206240"/>
            <a:ext cx="36576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Hard to reverse, or touches cost, contract or compliance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206240"/>
            <a:ext cx="3401568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Budget reallocation, vendor change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645152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736592"/>
            <a:ext cx="32004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1" i="0">
                <a:solidFill>
                  <a:srgbClr val="101418"/>
                </a:solidFill>
                <a:latin typeface="Calibri"/>
              </a:rPr>
              <a:t>Human decides, agent supports only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60520" y="4736592"/>
            <a:ext cx="36576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Irreversible, or legally accountable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4736592"/>
            <a:ext cx="3401568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Contract signature, termination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175504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468112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400" b="1" i="0">
                <a:solidFill>
                  <a:srgbClr val="101418"/>
                </a:solidFill>
                <a:latin typeface="Calibri"/>
              </a:rPr>
              <a:t>Notice what is absent. </a:t>
            </a:r>
            <a:r>
              <a:rPr sz="1400" b="0" i="0">
                <a:solidFill>
                  <a:srgbClr val="2A333B"/>
                </a:solidFill>
                <a:latin typeface="Calibri"/>
              </a:rPr>
              <a:t>Model confidence appears nowhere on this table. Confident and wrong on an irreversible decision is still a disaster, and a confidence score is the agent marking its own work.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EVIDENCE PLANE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16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Six things every decision has to carry.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942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6B7780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" y="2231136"/>
            <a:ext cx="302666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What was decided.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" y="2779776"/>
            <a:ext cx="3026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One sentence, naming the thing.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182112"/>
            <a:ext cx="3337560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24942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6B7780"/>
                </a:solidFill>
                <a:latin typeface="Cambr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74336" y="2231136"/>
            <a:ext cx="302666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What it rested 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4336" y="2779776"/>
            <a:ext cx="3026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The actual sources, not a summary.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3182112"/>
            <a:ext cx="3337560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32841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6B7780"/>
                </a:solidFill>
                <a:latin typeface="Cambr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" y="3310128"/>
            <a:ext cx="302666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What was rejected, and why.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3858768"/>
            <a:ext cx="3026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At least one real alternative.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261104"/>
            <a:ext cx="3337560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63440" y="332841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6B7780"/>
                </a:solidFill>
                <a:latin typeface="Cambri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4336" y="3310128"/>
            <a:ext cx="302666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How confident, and how it would be wrong.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74336" y="3858768"/>
            <a:ext cx="3026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Named, not hedged.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63440" y="4261104"/>
            <a:ext cx="3337560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407407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6B7780"/>
                </a:solidFill>
                <a:latin typeface="Cambria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" y="4389120"/>
            <a:ext cx="302666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How to undo 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4937759"/>
            <a:ext cx="3026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What that costs, and how long it stays cheap.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5340096"/>
            <a:ext cx="3337560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3440" y="4407407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6B7780"/>
                </a:solidFill>
                <a:latin typeface="Cambria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74336" y="4389120"/>
            <a:ext cx="302666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Who is accountable.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74336" y="4937759"/>
            <a:ext cx="3026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A person, not a team.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5340096"/>
            <a:ext cx="3337560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29600" y="2231136"/>
            <a:ext cx="3172968" cy="3145536"/>
          </a:xfrm>
          <a:prstGeom prst="roundRect">
            <a:avLst>
              <a:gd name="adj" fmla="val 4000"/>
            </a:avLst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0496" y="2615184"/>
            <a:ext cx="25603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F7F6F3"/>
                </a:solidFill>
                <a:latin typeface="Cambria"/>
              </a:rPr>
              <a:t>A decision missing any of the six is not a decision.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F7F6F3"/>
                </a:solidFill>
                <a:latin typeface="Cambria"/>
              </a:rPr>
              <a:t/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F7F6F3"/>
                </a:solidFill>
                <a:latin typeface="Cambria"/>
              </a:rPr>
              <a:t>It is an output. Outputs do not get actioned.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0496" y="4517136"/>
            <a:ext cx="2560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C9C6BF"/>
                </a:solidFill>
                <a:latin typeface="Calibri"/>
              </a:rPr>
              <a:t>Every field exists to make the next review faster. The second one alone is most of the saving.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LAYER 4, TECHNOLOGY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17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Reference shape, end to 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31136"/>
            <a:ext cx="231640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SOURCES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487168"/>
            <a:ext cx="2316403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Work tracker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054096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Code and CI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56432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Finance ledger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858768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Comms and docs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185083" y="3017520"/>
            <a:ext cx="274320" cy="182880"/>
          </a:xfrm>
          <a:prstGeom prst="rightArrow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0843" y="2231136"/>
            <a:ext cx="231640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AGENTS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50843" y="2487168"/>
            <a:ext cx="2316403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50843" y="2651760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Class A checkers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0843" y="3054096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Summarisers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0843" y="3456432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Analysts (propose only)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0843" y="3858768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Escalation router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958687" y="3017520"/>
            <a:ext cx="274320" cy="182880"/>
          </a:xfrm>
          <a:prstGeom prst="rightArrow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24447" y="2231136"/>
            <a:ext cx="231640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EVIDENCE PLANE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4447" y="2487168"/>
            <a:ext cx="2316403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24447" y="2651760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Decision artifacts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4447" y="3054096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Source 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4447" y="3456432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Counter-case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4447" y="3858768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Reversal path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8732291" y="3017520"/>
            <a:ext cx="274320" cy="182880"/>
          </a:xfrm>
          <a:prstGeom prst="rightArrow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98051" y="2231136"/>
            <a:ext cx="231640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VERIFICATION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98051" y="2487168"/>
            <a:ext cx="2316403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98051" y="2651760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Rule engine (auto)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051" y="3054096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Sampling queue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051" y="3456432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Expert review queue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051" y="3858768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Committee record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4480560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4626864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The write path back to the source systems runs through verification, never around 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138928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101418"/>
                </a:solidFill>
                <a:latin typeface="Cambria"/>
              </a:rPr>
              <a:t>Nothing writes back to the source systems until it has cleared verification. The write path is the governance boundary.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AGENTIC 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18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01418"/>
                </a:solidFill>
                <a:latin typeface="Cambria"/>
              </a:rPr>
              <a:t>Agents can supply review capacity,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01418"/>
                </a:solidFill>
                <a:latin typeface="Cambria"/>
              </a:rPr>
              <a:t>not just consume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615184"/>
            <a:ext cx="5029200" cy="969264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871216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200" b="1" i="0">
                <a:solidFill>
                  <a:srgbClr val="101418"/>
                </a:solidFill>
                <a:latin typeface="Cambria"/>
              </a:rPr>
              <a:t>c_eff  =  c_a  +  ( 1 - k )  x  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803904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Put a second agent in front of the human. It closes some decisions on its own, with a machine-checkable reason. The budget goes up without hiring anybody.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377440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THREE RULES, OR THIS IS WISHFUL THINKING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633472"/>
            <a:ext cx="5093208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283464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6B7780"/>
                </a:solidFill>
                <a:latin typeface="Cambria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816352"/>
            <a:ext cx="47274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The verifier output must be machine-checkable.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182112"/>
            <a:ext cx="47274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If a human reads its reasoning, you moved the cost rather than removing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3712464"/>
            <a:ext cx="509320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877055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6B7780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858768"/>
            <a:ext cx="47274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Measure how often it misses a bad decision.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224528"/>
            <a:ext cx="47274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Unmeasured means it counts as zero. Not an estimate. Zero.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4754879"/>
            <a:ext cx="509320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4919471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6B7780"/>
                </a:solidFill>
                <a:latin typeface="Cambri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901183"/>
            <a:ext cx="47274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Bank the bottom of the confidence range.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5266944"/>
            <a:ext cx="47274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Never the headline number. You are sizing a safety margin.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SIX OPERATING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19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101418"/>
                </a:solidFill>
                <a:latin typeface="Cambria"/>
              </a:rPr>
              <a:t>Six numbers. Always per class, never averaged.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9424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METRIC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249424"/>
            <a:ext cx="4389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WHAT IT TELLS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249424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TARGET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505456"/>
            <a:ext cx="10637215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670048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Budget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670048"/>
            <a:ext cx="4389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How much review you actually have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measure it, do not target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076956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168396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Overdraft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168396"/>
            <a:ext cx="4389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Whether you are spending capacity you have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168396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at or under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575303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666744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A34432"/>
                </a:solidFill>
                <a:latin typeface="Calibri"/>
              </a:rPr>
              <a:t>Silent drift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666744"/>
            <a:ext cx="4389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Whether the approvals are real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3666744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near baseline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07365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165091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Containment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4165091"/>
            <a:ext cx="4389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How much review the agents genuinely supply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4165091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measured, with its miss rate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572000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663440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Escalation precision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31920" y="4663440"/>
            <a:ext cx="4389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Whether escalations are worth the time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4663440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0.7 or better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070348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161788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Reversal latency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31920" y="5161788"/>
            <a:ext cx="4389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Whether the undo button is real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5161788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inside one review cycle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5568696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705856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1">
                <a:solidFill>
                  <a:srgbClr val="6B7780"/>
                </a:solidFill>
                <a:latin typeface="Calibri"/>
              </a:rPr>
              <a:t>Average these across a portfolio and a healthy class will hide a drowning one.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SIX OPERATING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20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101418"/>
                </a:solidFill>
                <a:latin typeface="Cambria"/>
              </a:rPr>
              <a:t>How to measure the thing nobody measures.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6949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101418"/>
                </a:solidFill>
                <a:latin typeface="Cambria"/>
              </a:rPr>
              <a:t>Set a floor: the time below which a genuine review could not physically have happened.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63824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SETTING THE FLOOR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19856"/>
            <a:ext cx="3200400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566160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Watch thirty real reviews. Confirm afterwards that each one was genuine.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52544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Take the tenth percentile of those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138928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Never go below reading speed on the document itself.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3163824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READING THE NUMBER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26279" y="3419856"/>
            <a:ext cx="3200400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79" y="3566160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A tenth-percentile floor reports about 10 percent even when all is well.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4352544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So the signal is the excess above 10, not the number itself.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5138928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34 percent means a third of approvals are decorative.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2194560"/>
            <a:ext cx="3264408" cy="3657600"/>
          </a:xfrm>
          <a:prstGeom prst="roundRect">
            <a:avLst>
              <a:gd name="adj" fmla="val 4000"/>
            </a:avLst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49056" y="2542032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800" b="1" i="0">
                <a:solidFill>
                  <a:srgbClr val="F7F6F3"/>
                </a:solidFill>
                <a:latin typeface="Cambria"/>
              </a:rPr>
              <a:t>Never use this on an individual.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49056" y="3383280"/>
            <a:ext cx="2651760" cy="2359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00" b="0" i="0">
                <a:solidFill>
                  <a:srgbClr val="C9C6BF"/>
                </a:solidFill>
                <a:latin typeface="Calibri"/>
              </a:rPr>
              <a:t>The moment you do, review time becomes a thing people manage rather than a thing you measure. Durations rise, the number goes to zero, and you have lost the only instrument that can see this failure.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00" b="0" i="0">
                <a:solidFill>
                  <a:srgbClr val="C9C6BF"/>
                </a:solidFill>
                <a:latin typeface="Calibri"/>
              </a:rPr>
              <a:t/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00" b="0" i="0">
                <a:solidFill>
                  <a:srgbClr val="C9C6BF"/>
                </a:solidFill>
                <a:latin typeface="Calibri"/>
              </a:rPr>
              <a:t>If your organisation cannot resist, do not collect it at all. A corrupted metric is worse than a missing one.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LAYER 5,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21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01418"/>
                </a:solidFill>
                <a:latin typeface="Cambria"/>
              </a:rPr>
              <a:t>Every headline number improved while supervision stopped existing.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95728"/>
            <a:ext cx="2384983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505456"/>
            <a:ext cx="238498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APPROVAL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43200"/>
            <a:ext cx="2384983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F7A5C"/>
                </a:solidFill>
                <a:latin typeface="Cambria"/>
              </a:rPr>
              <a:t>97%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56432"/>
            <a:ext cx="23849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6B7780"/>
                </a:solidFill>
                <a:latin typeface="Calibri"/>
              </a:rPr>
              <a:t>up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7983" y="2395728"/>
            <a:ext cx="2384983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7983" y="2505456"/>
            <a:ext cx="238498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REVERSAL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7983" y="2743200"/>
            <a:ext cx="2384983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F7A5C"/>
                </a:solidFill>
                <a:latin typeface="Cambria"/>
              </a:rPr>
              <a:t>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7983" y="3456432"/>
            <a:ext cx="23849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6B7780"/>
                </a:solidFill>
                <a:latin typeface="Calibri"/>
              </a:rPr>
              <a:t>down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2395728"/>
            <a:ext cx="2384983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78727" y="2505456"/>
            <a:ext cx="238498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CYCLE 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8727" y="2743200"/>
            <a:ext cx="2384983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F7A5C"/>
                </a:solidFill>
                <a:latin typeface="Cambria"/>
              </a:rPr>
              <a:t>-41%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3456432"/>
            <a:ext cx="23849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6B7780"/>
                </a:solidFill>
                <a:latin typeface="Calibri"/>
              </a:rPr>
              <a:t>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29471" y="2395728"/>
            <a:ext cx="2384983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9471" y="2505456"/>
            <a:ext cx="238498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ESCALATIONS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9471" y="2743200"/>
            <a:ext cx="2384983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6B7780"/>
                </a:solidFill>
                <a:latin typeface="Cambria"/>
              </a:rPr>
              <a:t>steady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29471" y="3456432"/>
            <a:ext cx="23849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6B7780"/>
                </a:solidFill>
                <a:latin typeface="Calibri"/>
              </a:rPr>
              <a:t>no change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059936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242816"/>
            <a:ext cx="495284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WHAT THE DASHBOARD SHOWED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535424"/>
            <a:ext cx="49528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Four green numbers. A programme that looks like it is working, reported to a board with no reason to doubt 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1607" y="4242816"/>
            <a:ext cx="495284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WHAT WAS ACTUALLY HAPPENING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1607" y="4535424"/>
            <a:ext cx="49528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Silent drift climbing every week. The approval rate went up because approving got faster, and approving got faster because checking stopped.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63270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400" b="1" i="0">
                <a:solidFill>
                  <a:srgbClr val="101418"/>
                </a:solidFill>
                <a:latin typeface="Calibri"/>
              </a:rPr>
              <a:t>Put drift on the same page as the good news. </a:t>
            </a:r>
            <a:r>
              <a:rPr sz="1400" b="0" i="0">
                <a:solidFill>
                  <a:srgbClr val="6B7780"/>
                </a:solidFill>
                <a:latin typeface="Calibri"/>
              </a:rPr>
              <a:t>On its own page nobody looks at it, and the four green numbers win.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FOUR EVAL GATES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22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Four gates, each with a number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31136"/>
            <a:ext cx="495284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BEFORE IT RUNS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487168"/>
            <a:ext cx="4952847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70048"/>
            <a:ext cx="495284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500" b="1" i="0">
                <a:solidFill>
                  <a:srgbClr val="101418"/>
                </a:solidFill>
                <a:latin typeface="Calibri"/>
              </a:rPr>
              <a:t>Do we agree what class this is?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82112"/>
            <a:ext cx="4952847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Two qualified people classify fifty decisions separately. If they disagree, you do not know what checking costs.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895344"/>
            <a:ext cx="4952847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41648"/>
            <a:ext cx="495284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500" b="1" i="0">
                <a:solidFill>
                  <a:srgbClr val="101418"/>
                </a:solidFill>
                <a:latin typeface="Calibri"/>
              </a:rPr>
              <a:t>Would it have been right on history?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53712"/>
            <a:ext cx="4952847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Replay against decisions you already know the outcome of. Zero Class D taken on its own.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1607" y="2231136"/>
            <a:ext cx="495284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WHILE IT RUNS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61607" y="2487168"/>
            <a:ext cx="4952847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2670048"/>
            <a:ext cx="495284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500" b="1" i="0">
                <a:solidFill>
                  <a:srgbClr val="101418"/>
                </a:solidFill>
                <a:latin typeface="Calibri"/>
              </a:rPr>
              <a:t>Is every decision checkable at the assumed cost?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3182112"/>
            <a:ext cx="4952847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Continuous, plus twenty read by a human for substance.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61607" y="3895344"/>
            <a:ext cx="4952847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7" y="4041648"/>
            <a:ext cx="495284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500" b="1" i="0">
                <a:solidFill>
                  <a:srgbClr val="101418"/>
                </a:solidFill>
                <a:latin typeface="Calibri"/>
              </a:rPr>
              <a:t>Is the containment real?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553712"/>
            <a:ext cx="4952847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Quarterly, against decisions known to be bad.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577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101418"/>
                </a:solidFill>
                <a:latin typeface="Cambria"/>
              </a:rPr>
              <a:t>A gate without a number attached to it is a meeting.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03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7FD8C2"/>
                </a:solidFill>
                <a:latin typeface="Calibri"/>
              </a:rPr>
              <a:t>PART 3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487168"/>
            <a:ext cx="1828800" cy="11430"/>
          </a:xfrm>
          <a:prstGeom prst="rect">
            <a:avLst/>
          </a:prstGeom>
          <a:solidFill>
            <a:srgbClr val="2B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761488"/>
            <a:ext cx="8686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400" b="1" i="0">
                <a:solidFill>
                  <a:srgbClr val="F7F6F3"/>
                </a:solidFill>
                <a:latin typeface="Cambria"/>
              </a:rPr>
              <a:t>What to do about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68496"/>
            <a:ext cx="6949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800" b="0" i="0">
                <a:solidFill>
                  <a:srgbClr val="C9C6BF"/>
                </a:solidFill>
                <a:latin typeface="Cambria"/>
              </a:rPr>
              <a:t>Where you are, what is missing, and the smallest useful thing you can do on Monday.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MATURITY STAGES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24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01418"/>
                </a:solidFill>
                <a:latin typeface="Cambria"/>
              </a:rPr>
              <a:t>Five stages, and the test for which one you are 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615184"/>
            <a:ext cx="10637215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31136"/>
            <a:ext cx="19628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F3A34"/>
                </a:solidFill>
                <a:latin typeface="Cambria"/>
              </a:rPr>
              <a:t>S0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1488"/>
            <a:ext cx="196285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unmeasured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82112"/>
            <a:ext cx="196285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6B7780"/>
                </a:solidFill>
                <a:latin typeface="Calibri"/>
              </a:rPr>
              <a:t>you do not know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5831" y="2231136"/>
            <a:ext cx="19628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F3A34"/>
                </a:solidFill>
                <a:latin typeface="Cambria"/>
              </a:rPr>
              <a:t>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5831" y="2761488"/>
            <a:ext cx="196285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measured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5831" y="3182112"/>
            <a:ext cx="196285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6B7780"/>
                </a:solidFill>
                <a:latin typeface="Calibri"/>
              </a:rPr>
              <a:t>you know the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4422" y="2231136"/>
            <a:ext cx="19628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F3A34"/>
                </a:solidFill>
                <a:latin typeface="Cambria"/>
              </a:rPr>
              <a:t>S2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4422" y="2761488"/>
            <a:ext cx="196285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bounded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14422" y="3182112"/>
            <a:ext cx="196285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6B7780"/>
                </a:solidFill>
                <a:latin typeface="Calibri"/>
              </a:rPr>
              <a:t>you say no to 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3013" y="2231136"/>
            <a:ext cx="19628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F3A34"/>
                </a:solidFill>
                <a:latin typeface="Cambria"/>
              </a:rPr>
              <a:t>S3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3013" y="2761488"/>
            <a:ext cx="196285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contained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3013" y="3182112"/>
            <a:ext cx="196285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6B7780"/>
                </a:solidFill>
                <a:latin typeface="Calibri"/>
              </a:rPr>
              <a:t>agents supply verified capacity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51604" y="2231136"/>
            <a:ext cx="19628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F3A34"/>
                </a:solidFill>
                <a:latin typeface="Cambria"/>
              </a:rPr>
              <a:t>S4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51604" y="2761488"/>
            <a:ext cx="196285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self-budgeting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51604" y="3182112"/>
            <a:ext cx="196285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6B7780"/>
                </a:solidFill>
                <a:latin typeface="Calibri"/>
              </a:rPr>
              <a:t>the system throttles itself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224528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443984"/>
            <a:ext cx="67665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2100" b="1" i="0">
                <a:solidFill>
                  <a:srgbClr val="101418"/>
                </a:solidFill>
                <a:latin typeface="Cambria"/>
              </a:rPr>
              <a:t>What does it cost you to check one expert decision,</a:t>
            </a:r>
          </a:p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2100" b="1" i="0">
                <a:solidFill>
                  <a:srgbClr val="101418"/>
                </a:solidFill>
                <a:latin typeface="Cambria"/>
              </a:rPr>
              <a:t>and when did you last measure it?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443984"/>
            <a:ext cx="372160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If there is no number and no date, you are at S0.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/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There is no S5. A system with no human verifier does not have an infinite verification budget. It has none.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KNOWN 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25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What I do not know.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1284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The measurement is biased.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212848"/>
            <a:ext cx="68305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People check more carefully when watched, so the budget always looks better than it is. Direction known, size not.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852927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999232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Bursts are not modelled.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999232"/>
            <a:ext cx="68305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The budget is a rate. Work does not arrive evenly. You can be fine on average and still drop reviews in board week. This is the biggest hole and I am asking for help.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639311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785615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Timing is a proxy for checking.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785615"/>
            <a:ext cx="68305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Somebody who already knows the answer can approve correctly in twenty seconds.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425696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57200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The B and C line is genuinely blurry.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572000"/>
            <a:ext cx="68305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Nobody has published how often two qualified people disagree.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212080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358384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There is no field data.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5358384"/>
            <a:ext cx="68305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Every figure here is illustrative. The repository says so on the same page it prints them.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99846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WHAT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26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Four things you can do on Monday.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67712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1F3A34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249424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550" b="1" i="0">
                <a:solidFill>
                  <a:srgbClr val="101418"/>
                </a:solidFill>
                <a:latin typeface="Calibri"/>
              </a:rPr>
              <a:t>Pick one decision type an agent already touches.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2249424"/>
            <a:ext cx="60076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One. Not a programme.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127248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1F3A34"/>
                </a:solidFill>
                <a:latin typeface="Cambr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108960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550" b="1" i="0">
                <a:solidFill>
                  <a:srgbClr val="101418"/>
                </a:solidFill>
                <a:latin typeface="Calibri"/>
              </a:rPr>
              <a:t>Time thirty reviews of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108960"/>
            <a:ext cx="60076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Then ask each reviewer whether they genuinely checked, and discard the ones who say no. That last step is the whole thing.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80390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986783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1F3A34"/>
                </a:solidFill>
                <a:latin typeface="Cambr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968496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550" b="1" i="0">
                <a:solidFill>
                  <a:srgbClr val="101418"/>
                </a:solidFill>
                <a:latin typeface="Calibri"/>
              </a:rPr>
              <a:t>Do the division.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3968496"/>
            <a:ext cx="60076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Four numbers into the calculator. About a minute, and it runs in your browser with nothing sent anywhere.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663440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846319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1F3A34"/>
                </a:solidFill>
                <a:latin typeface="Cambri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828031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550" b="1" i="0">
                <a:solidFill>
                  <a:srgbClr val="101418"/>
                </a:solidFill>
                <a:latin typeface="Calibri"/>
              </a:rPr>
              <a:t>Show somebody the gap.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4828031"/>
            <a:ext cx="60076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Not a programme, not a policy. One number, one conversation.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22975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41264"/>
            <a:ext cx="10424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1">
                <a:solidFill>
                  <a:srgbClr val="6B7780"/>
                </a:solidFill>
                <a:latin typeface="Calibri"/>
              </a:rPr>
              <a:t>Under 1.0 and you have headroom, so deploy more. Over, and you now know something you did not know this morning. That is the entire first stage.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18872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600" b="1" i="0">
                <a:solidFill>
                  <a:srgbClr val="F7F6F3"/>
                </a:solidFill>
                <a:latin typeface="Cambria"/>
              </a:rPr>
              <a:t>Take it and use it</a:t>
            </a:r>
          </a:p>
        </p:txBody>
      </p:sp>
      <p:pic>
        <p:nvPicPr>
          <p:cNvPr id="3" name="Picture 2" descr="qr-re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487168"/>
            <a:ext cx="1691640" cy="1691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4352544"/>
            <a:ext cx="2258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F7F6F3"/>
                </a:solidFill>
                <a:latin typeface="Calibri"/>
              </a:rPr>
              <a:t>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608576"/>
            <a:ext cx="2258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7FD8C2"/>
                </a:solidFill>
                <a:latin typeface="Calibri"/>
              </a:rPr>
              <a:t>github.com/hotragn/verb</a:t>
            </a:r>
          </a:p>
        </p:txBody>
      </p:sp>
      <p:pic>
        <p:nvPicPr>
          <p:cNvPr id="6" name="Picture 5" descr="qr-calcula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7248" y="2487168"/>
            <a:ext cx="1691640" cy="1691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27248" y="4352544"/>
            <a:ext cx="2258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F7F6F3"/>
                </a:solidFill>
                <a:latin typeface="Calibri"/>
              </a:rPr>
              <a:t>Calculator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27248" y="4608576"/>
            <a:ext cx="2258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7FD8C2"/>
                </a:solidFill>
                <a:latin typeface="Calibri"/>
              </a:rPr>
              <a:t>hotragn.github.io/verb</a:t>
            </a:r>
          </a:p>
        </p:txBody>
      </p:sp>
      <p:pic>
        <p:nvPicPr>
          <p:cNvPr id="9" name="Picture 8" descr="qr-linked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77256" y="2487168"/>
            <a:ext cx="1691640" cy="1691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77256" y="4352544"/>
            <a:ext cx="2258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F7F6F3"/>
                </a:solidFill>
                <a:latin typeface="Calibri"/>
              </a:rPr>
              <a:t>LinkedIn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77256" y="4608576"/>
            <a:ext cx="2258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7FD8C2"/>
                </a:solidFill>
                <a:latin typeface="Calibri"/>
              </a:rPr>
              <a:t>linkedin.com/in/hotragn-pettugani</a:t>
            </a:r>
          </a:p>
        </p:txBody>
      </p:sp>
      <p:pic>
        <p:nvPicPr>
          <p:cNvPr id="12" name="Picture 11" descr="qr-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27264" y="2487168"/>
            <a:ext cx="1691640" cy="1691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827264" y="4352544"/>
            <a:ext cx="2258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F7F6F3"/>
                </a:solidFill>
                <a:latin typeface="Calibri"/>
              </a:rPr>
              <a:t>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27264" y="4608576"/>
            <a:ext cx="2258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7FD8C2"/>
                </a:solidFill>
                <a:latin typeface="Calibri"/>
              </a:rPr>
              <a:t>x.com/hotragn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230368"/>
            <a:ext cx="10637215" cy="11430"/>
          </a:xfrm>
          <a:prstGeom prst="rect">
            <a:avLst/>
          </a:prstGeom>
          <a:solidFill>
            <a:srgbClr val="2B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449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500" b="0" i="0">
                <a:solidFill>
                  <a:srgbClr val="C9C6BF"/>
                </a:solidFill>
                <a:latin typeface="Cambria"/>
              </a:rPr>
              <a:t>Formula, schemas, calculator and eval harness. Apache 2.0.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500" b="0" i="0">
                <a:solidFill>
                  <a:srgbClr val="C9C6BF"/>
                </a:solidFill>
                <a:latin typeface="Cambria"/>
              </a:rPr>
              <a:t>Issues and measured verification costs welcome.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4055" y="563270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F7F6F3"/>
                </a:solidFill>
                <a:latin typeface="Calibri"/>
              </a:rPr>
              <a:t>Hotragn Pettugani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