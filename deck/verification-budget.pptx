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putting the room at ease. Most people here are not engineers and they</a:t>
            </a:r>
          </a:p>
          <a:p>
            <a:r>
              <a:t>have sat through a lot of AI slides this year.</a:t>
            </a:r>
          </a:p>
          <a:p/>
          <a:p>
            <a:r>
              <a:t>Say who you are in one line, then say what this talk is not: it is not a</a:t>
            </a:r>
          </a:p>
          <a:p>
            <a:r>
              <a:t>prediction, not a product, and not a maturity model you have to buy. It is one</a:t>
            </a:r>
          </a:p>
          <a:p>
            <a:r>
              <a:t>number and what follows from it.</a:t>
            </a:r>
          </a:p>
          <a:p/>
          <a:p>
            <a:r>
              <a:t>Tell them the whole thing is free and on GitHub, so they can stop taking</a:t>
            </a:r>
          </a:p>
          <a:p>
            <a:r>
              <a:t>photographs of slides and listen instead. Point at the QR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a show of hands: who has an AI tool writing something that used to take a</a:t>
            </a:r>
          </a:p>
          <a:p>
            <a:r>
              <a:t>person an afternoon. Most hands go up. Leave the hands up for a beat.</a:t>
            </a:r>
          </a:p>
          <a:p/>
          <a:p>
            <a:r>
              <a:t>Then the turn: everyone measured the win in hours saved on production. Nobody</a:t>
            </a:r>
          </a:p>
          <a:p>
            <a:r>
              <a:t>measured what happened next.</a:t>
            </a:r>
          </a:p>
          <a:p/>
          <a:p>
            <a:r>
              <a:t>Do not rush this slide. It is the only one where the audience is entirely</a:t>
            </a:r>
          </a:p>
          <a:p>
            <a:r>
              <a:t>comfortable, and the rest of the talk depends on them agreeing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right-hand column is the point. None of those three improved when the models</a:t>
            </a:r>
          </a:p>
          <a:p>
            <a:r>
              <a:t>improved, and two of them got worse.</a:t>
            </a:r>
          </a:p>
          <a:p/>
          <a:p>
            <a:r>
              <a:t>Worse how: the artifacts now arrive fluent. A confident, well-written, wrong</a:t>
            </a:r>
          </a:p>
          <a:p>
            <a:r>
              <a:t>document is harder to check than a rough one, because there is nothing to snag</a:t>
            </a:r>
          </a:p>
          <a:p>
            <a:r>
              <a:t>on.</a:t>
            </a:r>
          </a:p>
          <a:p/>
          <a:p>
            <a:r>
              <a:t>If the room is senior, this is where you will see the first nod of genuine</a:t>
            </a:r>
          </a:p>
          <a:p>
            <a:r>
              <a:t>recognition. Wait for it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right down here. This is the emotional centre of the talk and it needs</a:t>
            </a:r>
          </a:p>
          <a:p>
            <a:r>
              <a:t>space.</a:t>
            </a:r>
          </a:p>
          <a:p/>
          <a:p>
            <a:r>
              <a:t>Say plainly that this is not a discipline problem and you are not blaming</a:t>
            </a:r>
          </a:p>
          <a:p>
            <a:r>
              <a:t>reviewers. The reviewer is behaving rationally under a constraint somebody else</a:t>
            </a:r>
          </a:p>
          <a:p>
            <a:r>
              <a:t>handed them. If you get this wrong the room gets defensive and you lose them.</a:t>
            </a:r>
          </a:p>
          <a:p/>
          <a:p>
            <a:r>
              <a:t>The line to land: rubber-stamping is not a behaviour, it is what running out of</a:t>
            </a:r>
          </a:p>
          <a:p>
            <a:r>
              <a:t>review capacity looks like from the inside. Then pause and let it sit.</a:t>
            </a:r>
          </a:p>
          <a:p/>
          <a:p>
            <a:r>
              <a:t>If you want a story here, use one from your own experience rather than a</a:t>
            </a:r>
          </a:p>
          <a:p>
            <a:r>
              <a:t>hypothetical. It has to be real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inputs, and you can get three of them from a spreadsheet this afternoon.</a:t>
            </a:r>
          </a:p>
          <a:p/>
          <a:p>
            <a:r>
              <a:t>Be honest about R: it is not everyone with the approve button, it is the people</a:t>
            </a:r>
          </a:p>
          <a:p>
            <a:r>
              <a:t>whose sign-off you would defend afterwards. That distinction usually cuts the</a:t>
            </a:r>
          </a:p>
          <a:p>
            <a:r>
              <a:t>number by half and it is the first uncomfortable moment.</a:t>
            </a:r>
          </a:p>
          <a:p/>
          <a:p>
            <a:r>
              <a:t>The fourth input, c, is the one nobody has. Flag it now and come back to it,</a:t>
            </a:r>
          </a:p>
          <a:p>
            <a:r>
              <a:t>because it is the whole talk in one letter.</a:t>
            </a:r>
          </a:p>
          <a:p/>
          <a:p>
            <a:r>
              <a:t>Do not derive anything. It is a division. If somebody wants the derivation they</a:t>
            </a:r>
          </a:p>
          <a:p>
            <a:r>
              <a:t>can read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arithmetic out loud once, slowly. Six times eight is forty-eight, times</a:t>
            </a:r>
          </a:p>
          <a:p>
            <a:r>
              <a:t>0.55 is twenty-six hours, divided by an hour and a quarter is twenty-one.</a:t>
            </a:r>
          </a:p>
          <a:p/>
          <a:p>
            <a:r>
              <a:t>Then the number that matters: forty-nine. Say it as a sentence, not a figure.</a:t>
            </a:r>
          </a:p>
          <a:p>
            <a:r>
              <a:t>Forty-nine times a week, somebody signs their name to a decision they did not</a:t>
            </a:r>
          </a:p>
          <a:p>
            <a:r>
              <a:t>have the capacity to check.</a:t>
            </a:r>
          </a:p>
          <a:p/>
          <a:p>
            <a:r>
              <a:t>Nobody in that team is doing anything wrong. That is worth repeating.</a:t>
            </a:r>
          </a:p>
          <a:p/>
          <a:p>
            <a:r>
              <a:t>If asked whether these numbers are real: no, they are illustrative and the repo</a:t>
            </a:r>
          </a:p>
          <a:p>
            <a:r>
              <a:t>says so on the same page it prints them. Do not oversell.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move people push back on, so say the distinction twice.</a:t>
            </a:r>
          </a:p>
          <a:p/>
          <a:p>
            <a:r>
              <a:t>A worked pair, said out loud: reconciling a forty million pound budget rollup is</a:t>
            </a:r>
          </a:p>
          <a:p>
            <a:r>
              <a:t>high risk and takes a machine nine seconds. Deciding whether to renegotiate a</a:t>
            </a:r>
          </a:p>
          <a:p>
            <a:r>
              <a:t>minor dependency with a partner team is low risk and needs somebody who</a:t>
            </a:r>
          </a:p>
          <a:p>
            <a:r>
              <a:t>remembers what happened in March. Risk and cost of checking are different axes.</a:t>
            </a:r>
          </a:p>
          <a:p/>
          <a:p>
            <a:r>
              <a:t>Class D is where you will get a question. Answer it briefly here and properly on</a:t>
            </a:r>
          </a:p>
          <a:p>
            <a:r>
              <a:t>the maturity slide: a Class D decision has no finite cost of checking, so there</a:t>
            </a:r>
          </a:p>
          <a:p>
            <a:r>
              <a:t>is no amount of it you can afford. That is arithmetic, not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top right and name three things that live there. Portfolio</a:t>
            </a:r>
          </a:p>
          <a:p>
            <a:r>
              <a:t>prioritisation. Vendor dispute strategy. Strategic dependency renegotiation.</a:t>
            </a:r>
          </a:p>
          <a:p/>
          <a:p>
            <a:r>
              <a:t>Say the awkward part: the model is genuinely good at all three. That is not the</a:t>
            </a:r>
          </a:p>
          <a:p>
            <a:r>
              <a:t>problem. The problem is that your review capacity for them is a couple of dozen a</a:t>
            </a:r>
          </a:p>
          <a:p>
            <a:r>
              <a:t>week, so the deployment is capped at a couple of dozen a week no matter how good</a:t>
            </a:r>
          </a:p>
          <a:p>
            <a:r>
              <a:t>the model gets.</a:t>
            </a:r>
          </a:p>
          <a:p/>
          <a:p>
            <a:r>
              <a:t>You do not fix the top right by deploying harder. You fix it by moving work to</a:t>
            </a:r>
          </a:p>
          <a:p>
            <a:r>
              <a:t>the left, which means making the decision cheaper to check. That is engineering</a:t>
            </a:r>
          </a:p>
          <a:p>
            <a:r>
              <a:t>work, not a renaming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part that is genuinely new, so give it room. It is also the part</a:t>
            </a:r>
          </a:p>
          <a:p>
            <a:r>
              <a:t>that is easiest to sell badly, so lead with the rules rather than the upside.</a:t>
            </a:r>
          </a:p>
          <a:p/>
          <a:p>
            <a:r>
              <a:t>Rule two is the one to press on. An agent checking an agent is a lovely diagram</a:t>
            </a:r>
          </a:p>
          <a:p>
            <a:r>
              <a:t>and a risk transfer unless somebody has measured its miss rate against decisions</a:t>
            </a:r>
          </a:p>
          <a:p>
            <a:r>
              <a:t>known to be bad. Until then it is an opinion with a confident tone.</a:t>
            </a:r>
          </a:p>
          <a:p/>
          <a:p>
            <a:r>
              <a:t>There is a sting worth mentioning if the room is technical: the verifier closes</a:t>
            </a:r>
          </a:p>
          <a:p>
            <a:r>
              <a:t>the easy ones first, so the queue that reaches the human gets harder, so c goes</a:t>
            </a:r>
          </a:p>
          <a:p>
            <a:r>
              <a:t>up as k goes up. Re-measure after every change. The repo says the framework has</a:t>
            </a:r>
          </a:p>
          <a:p>
            <a:r>
              <a:t>no clean correction for this, which is the honest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why the number is four rather than a longer, safer-looking list. A contract</a:t>
            </a:r>
          </a:p>
          <a:p>
            <a:r>
              <a:t>gets read twice: once at approval when everyone is calm, and once during an</a:t>
            </a:r>
          </a:p>
          <a:p>
            <a:r>
              <a:t>incident. Only the second reading matters, and a fifteen-field contract fails it.</a:t>
            </a:r>
          </a:p>
          <a:p/>
          <a:p>
            <a:r>
              <a:t>Revocation is the one people leave out, and the one to press on. Ask the room:</a:t>
            </a:r>
          </a:p>
          <a:p>
            <a:r>
              <a:t>who here could turn off their AI tooling this afternoon without a meeting. It</a:t>
            </a:r>
          </a:p>
          <a:p>
            <a:r>
              <a:t>usually goes quiet.</a:t>
            </a:r>
          </a:p>
          <a:p/>
          <a:p>
            <a:r>
              <a:t>If somebody says four is too few, the answer is that rate limits go in scope,</a:t>
            </a:r>
          </a:p>
          <a:p>
            <a:r>
              <a:t>retention goes in evidence, on-call goes in escalation, and the kill switch goes</a:t>
            </a:r>
          </a:p>
          <a:p>
            <a:r>
              <a:t>in revocation. Nothing genuine has needed a fifth.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people miss: this is not an audit trail. An audit trail is built for</a:t>
            </a:r>
          </a:p>
          <a:p>
            <a:r>
              <a:t>reconstructing the past months later. This is built for making the next review</a:t>
            </a:r>
          </a:p>
          <a:p>
            <a:r>
              <a:t>fast this afternoon. Those two goals produce different documents and only one of</a:t>
            </a:r>
          </a:p>
          <a:p>
            <a:r>
              <a:t>them changes the budget.</a:t>
            </a:r>
          </a:p>
          <a:p/>
          <a:p>
            <a:r>
              <a:t>The evidence for field two: ask any reviewer where the time goes on a hard</a:t>
            </a:r>
          </a:p>
          <a:p>
            <a:r>
              <a:t>review. It is not the judgement, it is re-finding the inputs. Typically half.</a:t>
            </a:r>
          </a:p>
          <a:p/>
          <a:p>
            <a:r>
              <a:t>Field three has a subtle mechanism worth explaining if you have time. Without it,</a:t>
            </a:r>
          </a:p>
          <a:p>
            <a:r>
              <a:t>the reviewer's question is "is this right", which is unbounded. With it, the</a:t>
            </a:r>
          </a:p>
          <a:p>
            <a:r>
              <a:t>question becomes "is one of these rejection reasons wrong", which is a list you</a:t>
            </a:r>
          </a:p>
          <a:p>
            <a:r>
              <a:t>can get to the end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table. Point at row three and say that is the one that matters,</a:t>
            </a:r>
          </a:p>
          <a:p>
            <a:r>
              <a:t>and the next slide is entirely about it.</a:t>
            </a:r>
          </a:p>
          <a:p/>
          <a:p>
            <a:r>
              <a:t>The averaging warning is worth ten seconds because it is the mistake everyone</a:t>
            </a:r>
          </a:p>
          <a:p>
            <a:r>
              <a:t>makes on their first dashboard. One healthy class covers a failing one and the</a:t>
            </a:r>
          </a:p>
          <a:p>
            <a:r>
              <a:t>board sees a green light.</a:t>
            </a:r>
          </a:p>
          <a:p/>
          <a:p>
            <a:r>
              <a:t>If somebody asks why only six: because a PMO director has to be able to hold</a:t>
            </a:r>
          </a:p>
          <a:p>
            <a:r>
              <a:t>them, and because every one of them changes a decision. A metric that does not</a:t>
            </a:r>
          </a:p>
          <a:p>
            <a:r>
              <a:t>change a decision is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last line twice and mean it. If your organisation cannot resist using</a:t>
            </a:r>
          </a:p>
          <a:p>
            <a:r>
              <a:t>this against people, do not collect it at all. A corrupted metric is worse than a</a:t>
            </a:r>
          </a:p>
          <a:p>
            <a:r>
              <a:t>missing one, because a missing one does not tell you everything is fine.</a:t>
            </a:r>
          </a:p>
          <a:p/>
          <a:p>
            <a:r>
              <a:t>The tenth percentile rather than the average, because you are not trying to catch</a:t>
            </a:r>
          </a:p>
          <a:p>
            <a:r>
              <a:t>fast reviewers. Fast reviewers are good. You are trying to catch reviews that</a:t>
            </a:r>
          </a:p>
          <a:p>
            <a:r>
              <a:t>could not have happened.</a:t>
            </a:r>
          </a:p>
          <a:p/>
          <a:p>
            <a:r>
              <a:t>There is a lag worth mentioning: the overdraft turns into backlog first, then</a:t>
            </a:r>
          </a:p>
          <a:p>
            <a:r>
              <a:t>late nights, then drift. It usually takes about six weeks to show, which is why</a:t>
            </a:r>
          </a:p>
          <a:p>
            <a:r>
              <a:t>people conclude the overdraft was harmless. It was not. It was queued.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last line usually gets a laugh. Let it, then make the serious point: every</a:t>
            </a:r>
          </a:p>
          <a:p>
            <a:r>
              <a:t>one of these has a threshold in the repo, and the runners are there too, so this</a:t>
            </a:r>
          </a:p>
          <a:p>
            <a:r>
              <a:t>is not a slide of good intentions.</a:t>
            </a:r>
          </a:p>
          <a:p/>
          <a:p>
            <a:r>
              <a:t>Gate one fails more often than teams expect, and that failure is the most useful</a:t>
            </a:r>
          </a:p>
          <a:p>
            <a:r>
              <a:t>thing it produces. If two qualified people cannot agree what class something is,</a:t>
            </a:r>
          </a:p>
          <a:p>
            <a:r>
              <a:t>every number downstream is decoration.</a:t>
            </a:r>
          </a:p>
          <a:p/>
          <a:p>
            <a:r>
              <a:t>The replay gate has a criterion people find strange and it is worth the thirty</a:t>
            </a:r>
          </a:p>
          <a:p>
            <a:r>
              <a:t>seconds: if the agent disagrees with history and turns out to be right, it still</a:t>
            </a:r>
          </a:p>
          <a:p>
            <a:r>
              <a:t>fails unless a reviewer could adjudicate that disagreement inside the budgeted</a:t>
            </a:r>
          </a:p>
          <a:p>
            <a:r>
              <a:t>time. A right answer nobody can check is not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walk all five. Give them the one-question test and let them place</a:t>
            </a:r>
          </a:p>
          <a:p>
            <a:r>
              <a:t>themselves privately. That lands harder than a description.</a:t>
            </a:r>
          </a:p>
          <a:p/>
          <a:p>
            <a:r>
              <a:t>The hard step is S1 to S2, and it is not technical. It is being willing to say no</a:t>
            </a:r>
          </a:p>
          <a:p>
            <a:r>
              <a:t>to a deployment that is over budget. Everything before that is measurement and</a:t>
            </a:r>
          </a:p>
          <a:p>
            <a:r>
              <a:t>everything after is engineering.</a:t>
            </a:r>
          </a:p>
          <a:p/>
          <a:p>
            <a:r>
              <a:t>Then why there is no S5, which is the part people remember. S5 would be a system</a:t>
            </a:r>
          </a:p>
          <a:p>
            <a:r>
              <a:t>that sets its own risk appetite and audits its own drift: no human in the loop at</a:t>
            </a:r>
          </a:p>
          <a:p>
            <a:r>
              <a:t>all. That is not more mature, it is the removal of the thing the model exists to</a:t>
            </a:r>
          </a:p>
          <a:p>
            <a:r>
              <a:t>manage.</a:t>
            </a:r>
          </a:p>
          <a:p/>
          <a:p>
            <a:r>
              <a:t>The line: such a system might still be right. It just could not be known to be</a:t>
            </a:r>
          </a:p>
          <a:p>
            <a:r>
              <a:t>right by the people running it, and an organisation that cannot know is not</a:t>
            </a:r>
          </a:p>
          <a:p>
            <a:r>
              <a:t>governing, it is hoping.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apologise your way through this slide. Deliver it flat and fast. It buys</a:t>
            </a:r>
          </a:p>
          <a:p>
            <a:r>
              <a:t>more credibility than anything else in the talk, and a framework that hides its</a:t>
            </a:r>
          </a:p>
          <a:p>
            <a:r>
              <a:t>weak points gets adopted and then quietly dropped.</a:t>
            </a:r>
          </a:p>
          <a:p/>
          <a:p>
            <a:r>
              <a:t>The bursts one is a real invitation. If anybody in the room knows queueing theory</a:t>
            </a:r>
          </a:p>
          <a:p>
            <a:r>
              <a:t>you want them to find you afterwards, so say that out loud.</a:t>
            </a:r>
          </a:p>
          <a:p/>
          <a:p>
            <a:r>
              <a:t>On the last point: be blunt that the numbers are illustrative. Somebody will</a:t>
            </a:r>
          </a:p>
          <a:p>
            <a:r>
              <a:t>screenshot a figure and repost it, and you want to have said this clearly enough</a:t>
            </a:r>
          </a:p>
          <a:p>
            <a:r>
              <a:t>that it is on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they leave with, so make it feel small. Everything before this was</a:t>
            </a:r>
          </a:p>
          <a:p>
            <a:r>
              <a:t>the argument; this is the ask, and the ask has to be doable by one person without</a:t>
            </a:r>
          </a:p>
          <a:p>
            <a:r>
              <a:t>permission.</a:t>
            </a:r>
          </a:p>
          <a:p/>
          <a:p>
            <a:r>
              <a:t>Step two is the one that gets skipped and it is the one that makes the number</a:t>
            </a:r>
          </a:p>
          <a:p>
            <a:r>
              <a:t>mean anything. Without that question you are measuring how long approvals take,</a:t>
            </a:r>
          </a:p>
          <a:p>
            <a:r>
              <a:t>not how long checking takes, and under overdraft those are different quantities.</a:t>
            </a:r>
          </a:p>
          <a:p/>
          <a:p>
            <a:r>
              <a:t>End on the last line rather than on an exhortation. Knowing the gap is genuinely</a:t>
            </a:r>
          </a:p>
          <a:p>
            <a:r>
              <a:t>the whole of stage one, and saying so lowers the barrier.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this slide up early and leave it up. It should be on screen through the whole</a:t>
            </a:r>
          </a:p>
          <a:p>
            <a:r>
              <a:t>question session so people can photograph it without asking.</a:t>
            </a:r>
          </a:p>
          <a:p/>
          <a:p>
            <a:r>
              <a:t>Say the three things you want, in order. A measured cost of checking from a real</a:t>
            </a:r>
          </a:p>
          <a:p>
            <a:r>
              <a:t>organisation is worth more than any citation. A disagreement about how something</a:t>
            </a:r>
          </a:p>
          <a:p>
            <a:r>
              <a:t>should be classified. And anybody who knows queueing theory.</a:t>
            </a:r>
          </a:p>
          <a:p/>
          <a:p>
            <a:r>
              <a:t>Then stop talking. Do not summarise the talk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874519"/>
            <a:ext cx="914400" cy="24765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12848"/>
            <a:ext cx="9144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F7F6F3"/>
                </a:solidFill>
                <a:latin typeface="Cambria"/>
              </a:rPr>
              <a:t>The Verification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86784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C6BF"/>
                </a:solidFill>
                <a:latin typeface="Cambria"/>
              </a:rPr>
              <a:t>An operating model for autonomous AI in project delivery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C6BF"/>
                </a:solidFill>
                <a:latin typeface="Cambria"/>
              </a:rPr>
              <a:t>and end to end PMO.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230368"/>
            <a:ext cx="10637215" cy="11430"/>
          </a:xfrm>
          <a:prstGeom prst="rect">
            <a:avLst/>
          </a:prstGeom>
          <a:solidFill>
            <a:srgbClr val="2B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132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7F6F3"/>
                </a:solidFill>
                <a:latin typeface="Calibri"/>
              </a:rPr>
              <a:t>Hotragn Pettugani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54132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FD8C2"/>
                </a:solidFill>
                <a:latin typeface="Calibri"/>
              </a:rPr>
              <a:t>github.com/hotragn/verb          x.com/hotragn          linkedin.com/in/hotragn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For thirty years, the scarce thing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was getting the work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600" b="0" i="0">
                <a:solidFill>
                  <a:srgbClr val="2A333B"/>
                </a:solidFill>
                <a:latin typeface="Calibri"/>
              </a:rPr>
              <a:t>Somebody had to write the status report, chase the risk owners, rebuild the forecast after the change request landed. Capacity meant counting the people who could make those things.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50208"/>
            <a:ext cx="6492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2000" b="1" i="0">
                <a:solidFill>
                  <a:srgbClr val="101418"/>
                </a:solidFill>
                <a:latin typeface="Calibri"/>
              </a:rPr>
              <a:t>That is over. </a:t>
            </a:r>
            <a:r>
              <a:rPr sz="2000" b="0" i="0">
                <a:solidFill>
                  <a:srgbClr val="2A333B"/>
                </a:solidFill>
                <a:latin typeface="Calibri"/>
              </a:rPr>
              <a:t>An agent produces a defensible status pack for forty projects in the time it takes you to open the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2487168"/>
            <a:ext cx="3429000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2615184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WHERE THIS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907792"/>
            <a:ext cx="3429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Not a prediction. This is what teams running agents in delivery are reporting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The number that did not move is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57984"/>
            <a:ext cx="4907127" cy="2084831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395728"/>
            <a:ext cx="4248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6B7780"/>
                </a:solidFill>
                <a:latin typeface="Calibri"/>
              </a:rPr>
              <a:t>WENT UP, A 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798064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A333B"/>
                </a:solidFill>
                <a:latin typeface="Calibri"/>
              </a:rPr>
              <a:t>Decisions produced per 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06424" y="3127248"/>
            <a:ext cx="4248759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218688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A333B"/>
                </a:solidFill>
                <a:latin typeface="Calibri"/>
              </a:rPr>
              <a:t>Speed of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6424" y="3547872"/>
            <a:ext cx="4248759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639312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A333B"/>
                </a:solidFill>
                <a:latin typeface="Calibri"/>
              </a:rPr>
              <a:t>How polished the output looks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7327" y="2157984"/>
            <a:ext cx="4907127" cy="2084831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6511" y="2395728"/>
            <a:ext cx="4248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01418"/>
                </a:solidFill>
                <a:latin typeface="Calibri"/>
              </a:rPr>
              <a:t>DID NOT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6511" y="2798064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101418"/>
                </a:solidFill>
                <a:latin typeface="Calibri"/>
              </a:rPr>
              <a:t>People qualified to judge the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6511" y="3127248"/>
            <a:ext cx="4248759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6511" y="3218688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101418"/>
                </a:solidFill>
                <a:latin typeface="Calibri"/>
              </a:rPr>
              <a:t>Hours they actually have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36511" y="3547872"/>
            <a:ext cx="4248759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6511" y="3639312"/>
            <a:ext cx="4248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101418"/>
                </a:solidFill>
                <a:latin typeface="Calibri"/>
              </a:rPr>
              <a:t>Time one honest check takes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26864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2000" b="0" i="0">
                <a:solidFill>
                  <a:srgbClr val="2A333B"/>
                </a:solidFill>
                <a:latin typeface="Calibri"/>
              </a:rPr>
              <a:t>When production runs past review capacity, the extra work does not stop. </a:t>
            </a:r>
            <a:r>
              <a:rPr sz="2000" b="1" i="0">
                <a:solidFill>
                  <a:srgbClr val="101418"/>
                </a:solidFill>
                <a:latin typeface="Calibri"/>
              </a:rPr>
              <a:t>It gets approved anyway.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Nobody decides to rubber-stamp.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31136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101418"/>
                </a:solidFill>
                <a:latin typeface="Cambria"/>
              </a:rPr>
              <a:t>A reviewer with eleven minutes and nineteen items in the queue produces nineteen approvals.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56432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500" b="0" i="0">
                <a:solidFill>
                  <a:srgbClr val="2A333B"/>
                </a:solidFill>
                <a:latin typeface="Calibri"/>
              </a:rPr>
              <a:t>Every one is recorded as a review. The governance record is intact. The governance is not. There is no error message for this, and it looks exactly like a working PMO right up until something goes wrong and nobody can reconstruct who checked what.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231136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50545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A34432"/>
                </a:solidFill>
                <a:latin typeface="Calibri"/>
              </a:rPr>
              <a:t>SILENT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871216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 i="0">
                <a:solidFill>
                  <a:srgbClr val="101418"/>
                </a:solidFill>
                <a:latin typeface="Calibri"/>
              </a:rPr>
              <a:t>The gap between approvals recorded and reviews genuinely done.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 i="0">
                <a:solidFill>
                  <a:srgbClr val="101418"/>
                </a:solidFill>
                <a:latin typeface="Calibri"/>
              </a:rPr>
              <a:t/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 i="0">
                <a:solidFill>
                  <a:srgbClr val="101418"/>
                </a:solidFill>
                <a:latin typeface="Calibri"/>
              </a:rPr>
              <a:t>Silent because the system records it as success.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47488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00" b="0" i="1">
                <a:solidFill>
                  <a:srgbClr val="6B7780"/>
                </a:solidFill>
                <a:latin typeface="Calibri"/>
              </a:rPr>
              <a:t>It is not a discipline problem. The reviewer is behaving rationally under a constraint somebody else handed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VERIFICATION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So put a number on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39696"/>
            <a:ext cx="10637215" cy="1243584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101418"/>
                </a:solidFill>
                <a:latin typeface="Cambria"/>
              </a:rPr>
              <a:t>VB   =   ( R  x  H  x  u )   /  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85615"/>
            <a:ext cx="4998567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1363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3A34"/>
                </a:solidFill>
                <a:latin typeface="Cambria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931920"/>
            <a:ext cx="4523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People genuinely qualified to judge it. Not everyone with the approve button.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887" y="3785615"/>
            <a:ext cx="4998567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391363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3A34"/>
                </a:solidFill>
                <a:latin typeface="Cambria"/>
              </a:rP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1375" y="3931920"/>
            <a:ext cx="4523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Hours a week each of them has set aside for reviewing.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54879"/>
            <a:ext cx="4998567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82895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3A34"/>
                </a:solidFill>
                <a:latin typeface="Cambria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1183"/>
            <a:ext cx="4523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The share of those hours that survives the calendar.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5887" y="4754879"/>
            <a:ext cx="4998567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82895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F3A34"/>
                </a:solidFill>
                <a:latin typeface="Cambria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1375" y="4901183"/>
            <a:ext cx="4523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Hours to genuinely check one decision. The one nobody has.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1">
                <a:solidFill>
                  <a:srgbClr val="6B7780"/>
                </a:solidFill>
                <a:latin typeface="Calibri"/>
              </a:rPr>
              <a:t>Three of these you can get from a spreadsheet this afternoon.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VERIFICATION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Six people. Twenty-one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i="0">
                <a:solidFill>
                  <a:srgbClr val="4A555F"/>
                </a:solidFill>
                <a:latin typeface="Cambria"/>
              </a:rPr>
              <a:t>VB   =   ( 6  x  8  x  0.55 )  /  1.25   =   21 a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99232"/>
            <a:ext cx="3210458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10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6703"/>
            <a:ext cx="321045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01418"/>
                </a:solidFill>
                <a:latin typeface="Cambria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59935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6B7780"/>
                </a:solidFill>
                <a:latin typeface="Calibri"/>
              </a:rPr>
              <a:t>re-baselines a week that can genuinely be reviewed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0618" y="2999232"/>
            <a:ext cx="3210458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618" y="3108960"/>
            <a:ext cx="3210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346703"/>
            <a:ext cx="321045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01418"/>
                </a:solidFill>
                <a:latin typeface="Cambria"/>
              </a:rP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059935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6B7780"/>
                </a:solidFill>
                <a:latin typeface="Calibri"/>
              </a:rPr>
              <a:t>re-baselines a week the agents actually generate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3996" y="2999232"/>
            <a:ext cx="3210458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3996" y="3108960"/>
            <a:ext cx="32104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OVERDRAFT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3346703"/>
            <a:ext cx="321045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A34432"/>
                </a:solidFill>
                <a:latin typeface="Cambria"/>
              </a:rPr>
              <a:t>3.3x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59935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 i="0">
                <a:solidFill>
                  <a:srgbClr val="6B7780"/>
                </a:solidFill>
                <a:latin typeface="Calibri"/>
              </a:rPr>
              <a:t>about 49 a week carry an approval nobody could defend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38928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0" i="0">
                <a:solidFill>
                  <a:srgbClr val="6B7780"/>
                </a:solidFill>
                <a:latin typeface="Calibri"/>
              </a:rPr>
              <a:t>Six people qualified to review a schedule re-baseline, eight review hours each, of which 55 percent survives the calendar, and an honest check takes an hour and a quarter.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FOUR DECISION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Sort work by how expensive it is to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49424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24942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THE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249424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COST TO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2249424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WHO DECIDES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05456"/>
            <a:ext cx="10637215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697479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F6F3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71576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1418"/>
                </a:solidFill>
                <a:latin typeface="Calibri"/>
              </a:rPr>
              <a:t>machine-checkable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7157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a test decides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7157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2715768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278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355847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3C6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F6F3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3374135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1418"/>
                </a:solidFill>
                <a:latin typeface="Calibri"/>
              </a:rPr>
              <a:t>sample-checkable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37413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check twenty, conclude about two hundred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374135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minutes, spread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3374135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886199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014215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B88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F6F3"/>
                </a:solidFill>
                <a:latin typeface="Calibri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4032503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1418"/>
                </a:solidFill>
                <a:latin typeface="Calibri"/>
              </a:rPr>
              <a:t>expert-checkable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4032503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a qualified person rebuilds the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4032503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4032503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agent proposes,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human decides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544567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672583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A34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F6F3"/>
                </a:solidFill>
                <a:latin typeface="Calibr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69087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1418"/>
                </a:solidFill>
                <a:latin typeface="Calibri"/>
              </a:rPr>
              <a:t>not checkable in advance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469087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you only find out afterwards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690871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no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4690871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human, always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202935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949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500" b="1" i="0">
                <a:solidFill>
                  <a:srgbClr val="101418"/>
                </a:solidFill>
                <a:latin typeface="Calibri"/>
              </a:rPr>
              <a:t>Not by risk. </a:t>
            </a:r>
            <a:r>
              <a:rPr sz="1500" b="0" i="0">
                <a:solidFill>
                  <a:srgbClr val="2A333B"/>
                </a:solidFill>
                <a:latin typeface="Calibri"/>
              </a:rPr>
              <a:t>Risk tells you whether you must check. This tells you what checking costs. You need both, and most governance frameworks only have the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DEPLOYMENT INVERSION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01418"/>
                </a:solidFill>
                <a:latin typeface="Cambria"/>
              </a:rPr>
              <a:t>Deploy where checking is cheap,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01418"/>
                </a:solidFill>
                <a:latin typeface="Cambria"/>
              </a:rPr>
              <a:t>not where the task is easy.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871215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1F7A5C"/>
                </a:solidFill>
                <a:latin typeface="Calibri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218688"/>
            <a:ext cx="2871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Model is good at it and checking is cheap. This is the whole game, and it is less glamorous than the other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871215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A34432"/>
                </a:solidFill>
                <a:latin typeface="Calibri"/>
              </a:rPr>
              <a:t>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218688"/>
            <a:ext cx="2871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Model is good at it and checking is expensive. Every impressive demo lives here. So does every overdraft.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471416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libri"/>
              </a:rPr>
              <a:t>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818888"/>
            <a:ext cx="2871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Cheap to check, model is not there yet. Harmless. Revisit next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4471416"/>
            <a:ext cx="2871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libri"/>
              </a:rPr>
              <a:t>DO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4818888"/>
            <a:ext cx="28712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Expensive to check and the model is weak. No path from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615184"/>
            <a:ext cx="6766560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5383"/>
            <a:ext cx="6766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815583"/>
            <a:ext cx="6766560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615184"/>
            <a:ext cx="8572" cy="3200400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2615184"/>
            <a:ext cx="8572" cy="3200400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2615184"/>
            <a:ext cx="8572" cy="3200400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304288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COST OF CHECKING, CHEAP ON THE 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61888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MODEL CAPABILITY, HIGHER AT THE 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615184"/>
            <a:ext cx="3538728" cy="3200400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2907792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600" b="1" i="0">
                <a:solidFill>
                  <a:srgbClr val="101418"/>
                </a:solidFill>
                <a:latin typeface="Cambria"/>
              </a:rPr>
              <a:t>The top right is where every impressive demo lives.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712463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A333B"/>
                </a:solidFill>
                <a:latin typeface="Calibri"/>
              </a:rPr>
              <a:t>Portfolio prioritisation.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A333B"/>
                </a:solidFill>
                <a:latin typeface="Calibri"/>
              </a:rPr>
              <a:t>Vendor dispute strategy.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A333B"/>
                </a:solidFill>
                <a:latin typeface="Calibri"/>
              </a:rPr>
              <a:t>Strategic dependency renegotiation.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A333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A333B"/>
                </a:solidFill>
                <a:latin typeface="Calibri"/>
              </a:rPr>
              <a:t>The models are genuinely good at all three. That is not the problem. The problem is that your review capacity for them is a couple of dozen a week.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AGENTIC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01418"/>
                </a:solidFill>
                <a:latin typeface="Cambria"/>
              </a:rPr>
              <a:t>Agents can supply review capacity,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01418"/>
                </a:solidFill>
                <a:latin typeface="Cambria"/>
              </a:rPr>
              <a:t>not just consume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15184"/>
            <a:ext cx="5029200" cy="969264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7121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200" b="1" i="0">
                <a:solidFill>
                  <a:srgbClr val="101418"/>
                </a:solidFill>
                <a:latin typeface="Cambria"/>
              </a:rPr>
              <a:t>c_eff  =  c_a  +  ( 1 - k )  x 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03904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Put a second agent in front of the human. It closes some decisions on its own, with a machine-checkable reason. The budget goes up without hiring anybody.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THREE RULES, OR THIS IS WISHFUL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33472"/>
            <a:ext cx="5093208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6B7780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16352"/>
            <a:ext cx="4727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The verifier output must be machine-checkable.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82112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If a human reads its reasoning, you moved the cost rather than removing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12464"/>
            <a:ext cx="5093208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877055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6B7780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58768"/>
            <a:ext cx="4727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Measure how often it misses a bad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224528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Unmeasured means it counts as zero. Not an estimate. Zero.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754879"/>
            <a:ext cx="5093208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919471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6B7780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01183"/>
            <a:ext cx="4727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Bank the bottom of the confidence range.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66944"/>
            <a:ext cx="4727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Never the headline number. You are sizing a safety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AGENT ROLE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Every agent gets four fields. Not nine.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9424"/>
            <a:ext cx="5044287" cy="1243584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468880"/>
            <a:ext cx="4422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01418"/>
                </a:solidFill>
                <a:latin typeface="Cambria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852928"/>
            <a:ext cx="4422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Which decisions it may make, named one by one. Anything unnamed is out, and running into one is a stop.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0167" y="2249424"/>
            <a:ext cx="5044287" cy="1243584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1063" y="2468880"/>
            <a:ext cx="4422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01418"/>
                </a:solidFill>
                <a:latin typeface="Cambria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1063" y="2852928"/>
            <a:ext cx="4422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What it must show for every decision. If it cannot produce the evidence, it does not make the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67328"/>
            <a:ext cx="5044287" cy="1243584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986784"/>
            <a:ext cx="4422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01418"/>
                </a:solidFill>
                <a:latin typeface="Cambria"/>
              </a:rPr>
              <a:t>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4370832"/>
            <a:ext cx="4422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The named conditions where it stops, and the named human it stops 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167" y="3767328"/>
            <a:ext cx="5044287" cy="1243584"/>
          </a:xfrm>
          <a:prstGeom prst="roundRect">
            <a:avLst>
              <a:gd name="adj" fmla="val 4000"/>
            </a:avLst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1063" y="3986784"/>
            <a:ext cx="4422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101418"/>
                </a:solidFill>
                <a:latin typeface="Cambria"/>
              </a:rPr>
              <a:t>Revocation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1063" y="4370832"/>
            <a:ext cx="44224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How you turn it off, who can, how fast, and what happens to work in flight.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982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50" b="0" i="1">
                <a:solidFill>
                  <a:srgbClr val="6B7780"/>
                </a:solidFill>
                <a:latin typeface="Calibri"/>
              </a:rPr>
              <a:t>Four is the number somebody can hold in their head at six on a Friday when the thing is misbehaving and a call has to be made. That is the only moment the contract has to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EVIDENCE PLANE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Six things every decision has to carry.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231136"/>
            <a:ext cx="3026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What was decided.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79776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One sentence, naming the 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182112"/>
            <a:ext cx="3337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2494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231136"/>
            <a:ext cx="3026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What it rested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779776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The actual sources, not a summary.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182112"/>
            <a:ext cx="3337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284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" y="3310128"/>
            <a:ext cx="3026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What was rejected, and why.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3858768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At least one real alternative.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261104"/>
            <a:ext cx="3337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3284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3310128"/>
            <a:ext cx="3026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How confident, and how it would be wrong.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3858768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Named, not hedged.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261104"/>
            <a:ext cx="3337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0740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4389120"/>
            <a:ext cx="3026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How to undo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937759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What that costs, and how long it stays cheap.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40096"/>
            <a:ext cx="3337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407407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6B7780"/>
                </a:solidFill>
                <a:latin typeface="Cambr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4336" y="4389120"/>
            <a:ext cx="302666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Who is accountable.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4336" y="4937759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A person, not a team.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5340096"/>
            <a:ext cx="3337560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2231136"/>
            <a:ext cx="3172968" cy="3145536"/>
          </a:xfrm>
          <a:prstGeom prst="roundRect">
            <a:avLst>
              <a:gd name="adj" fmla="val 4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6" y="2615184"/>
            <a:ext cx="2560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F7F6F3"/>
                </a:solidFill>
                <a:latin typeface="Cambria"/>
              </a:rPr>
              <a:t>A decision missing any of the six is not a decision.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F7F6F3"/>
                </a:solidFill>
                <a:latin typeface="Cambria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F7F6F3"/>
                </a:solidFill>
                <a:latin typeface="Cambria"/>
              </a:rPr>
              <a:t>It is an output. Outputs do not get actioned.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451713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C9C6BF"/>
                </a:solidFill>
                <a:latin typeface="Calibri"/>
              </a:rPr>
              <a:t>Every field exists to make the next review faster. The second one alone is most of the saving.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SIX OPERATING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01418"/>
                </a:solidFill>
                <a:latin typeface="Cambria"/>
              </a:rPr>
              <a:t>Six numbers. Always per class, never averaged.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4942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WHAT IT TELLS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05456"/>
            <a:ext cx="10637215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0048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How much review you actually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measure it, do not target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76956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6839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Overdraft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8396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Whether you are spending capacity you have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68396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at or under 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75303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66744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A34432"/>
                </a:solidFill>
                <a:latin typeface="Calibri"/>
              </a:rPr>
              <a:t>Silent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66744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Whether the approvals are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666744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near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7365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50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Containment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165091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How much review the agents genuinely supply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165091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measured, with its miss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572000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Escalation 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663440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Whether escalations are worth the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63440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0.7 or better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70348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6178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Reversal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161788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Whether the undo button is real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16178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2A333B"/>
                </a:solidFill>
                <a:latin typeface="Calibri"/>
              </a:rPr>
              <a:t>inside one review cycle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568696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70585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6B7780"/>
                </a:solidFill>
                <a:latin typeface="Calibri"/>
              </a:rPr>
              <a:t>Average these across a portfolio and a healthy class will hide a drowning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SIX OPERATING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100" b="1" i="0">
                <a:solidFill>
                  <a:srgbClr val="101418"/>
                </a:solidFill>
                <a:latin typeface="Cambria"/>
              </a:rPr>
              <a:t>How to measure the thing nobody measures.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101418"/>
                </a:solidFill>
                <a:latin typeface="Cambria"/>
              </a:rPr>
              <a:t>Set a floor: the time below which a genuine review could not physically have happened.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63824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SETTING THE FLOOR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19856"/>
            <a:ext cx="3200400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Watch thirty real reviews. Confirm afterwards that each one was genuine.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5254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Take the tenth percentile of those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3892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Never go below reading speed on the document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163824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READING THE NUMBER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79" y="3419856"/>
            <a:ext cx="3200400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35661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A tenth-percentile floor reports about 10 percent even when all is well.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35254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So the signal is the excess above 10, not the number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513892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2A333B"/>
                </a:solidFill>
                <a:latin typeface="Calibri"/>
              </a:rPr>
              <a:t>34 percent means a third of approvals are decorative.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194560"/>
            <a:ext cx="3264408" cy="3657600"/>
          </a:xfrm>
          <a:prstGeom prst="roundRect">
            <a:avLst>
              <a:gd name="adj" fmla="val 4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542032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1" i="0">
                <a:solidFill>
                  <a:srgbClr val="F7F6F3"/>
                </a:solidFill>
                <a:latin typeface="Cambria"/>
              </a:rPr>
              <a:t>Never use this on an individual.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383280"/>
            <a:ext cx="2651760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C9C6BF"/>
                </a:solidFill>
                <a:latin typeface="Calibri"/>
              </a:rPr>
              <a:t>The moment you do, review time becomes a thing people manage rather than a thing you measure. Durations rise, the number goes to zero, and you have lost the only instrument that can see this failure.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C9C6BF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00" b="0" i="0">
                <a:solidFill>
                  <a:srgbClr val="C9C6BF"/>
                </a:solidFill>
                <a:latin typeface="Calibri"/>
              </a:rPr>
              <a:t>If your organisation cannot resist, do not collect it at all. A corrupted metric is worse than a missing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THE FOUR EVAL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Four gates, each with a number attached.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31136"/>
            <a:ext cx="49528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BEFORE IT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87168"/>
            <a:ext cx="4952847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49528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1" i="0">
                <a:solidFill>
                  <a:srgbClr val="101418"/>
                </a:solidFill>
                <a:latin typeface="Calibri"/>
              </a:rPr>
              <a:t>Do we agree what class this 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4952847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Two qualified people classify fifty decisions separately. If they disagree, you do not know what checking costs.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95344"/>
            <a:ext cx="4952847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41648"/>
            <a:ext cx="49528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1" i="0">
                <a:solidFill>
                  <a:srgbClr val="101418"/>
                </a:solidFill>
                <a:latin typeface="Calibri"/>
              </a:rPr>
              <a:t>Would it have been right on history?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3712"/>
            <a:ext cx="4952847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Replay against decisions you already know the outcome of. Zero Class D taken on its own.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231136"/>
            <a:ext cx="49528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6B7780"/>
                </a:solidFill>
                <a:latin typeface="Calibri"/>
              </a:rPr>
              <a:t>WHILE IT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1607" y="2487168"/>
            <a:ext cx="4952847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670048"/>
            <a:ext cx="49528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1" i="0">
                <a:solidFill>
                  <a:srgbClr val="101418"/>
                </a:solidFill>
                <a:latin typeface="Calibri"/>
              </a:rPr>
              <a:t>Is every decision checkable at the assumed cost?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182112"/>
            <a:ext cx="4952847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Continuous, plus twenty read by a human for substance.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1607" y="3895344"/>
            <a:ext cx="4952847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041648"/>
            <a:ext cx="495284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1" i="0">
                <a:solidFill>
                  <a:srgbClr val="101418"/>
                </a:solidFill>
                <a:latin typeface="Calibri"/>
              </a:rPr>
              <a:t>Is the containment real?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553712"/>
            <a:ext cx="4952847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2A333B"/>
                </a:solidFill>
                <a:latin typeface="Calibri"/>
              </a:rPr>
              <a:t>Quarterly, against decisions known to be bad.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01418"/>
                </a:solidFill>
                <a:latin typeface="Cambria"/>
              </a:rPr>
              <a:t>A gate without a number attached to it is a meeting.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MATURITY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 i="0">
                <a:solidFill>
                  <a:srgbClr val="101418"/>
                </a:solidFill>
                <a:latin typeface="Cambria"/>
              </a:rPr>
              <a:t>Five stages, and the test for which one you are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15184"/>
            <a:ext cx="10637215" cy="13335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3A34"/>
                </a:solidFill>
                <a:latin typeface="Cambria"/>
              </a:rPr>
              <a:t>S0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19628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unmeasured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19628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7780"/>
                </a:solidFill>
                <a:latin typeface="Calibri"/>
              </a:rPr>
              <a:t>you do not know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5831" y="2231136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3A34"/>
                </a:solidFill>
                <a:latin typeface="Cambria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5831" y="2761488"/>
            <a:ext cx="19628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5831" y="3182112"/>
            <a:ext cx="19628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7780"/>
                </a:solidFill>
                <a:latin typeface="Calibri"/>
              </a:rPr>
              <a:t>you know 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4422" y="2231136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3A34"/>
                </a:solidFill>
                <a:latin typeface="Cambria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4422" y="2761488"/>
            <a:ext cx="19628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bounded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4422" y="3182112"/>
            <a:ext cx="19628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7780"/>
                </a:solidFill>
                <a:latin typeface="Calibri"/>
              </a:rPr>
              <a:t>you say no to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3013" y="2231136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3A34"/>
                </a:solidFill>
                <a:latin typeface="Cambria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3013" y="2761488"/>
            <a:ext cx="19628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contained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3013" y="3182112"/>
            <a:ext cx="19628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7780"/>
                </a:solidFill>
                <a:latin typeface="Calibri"/>
              </a:rPr>
              <a:t>agents supply verified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1604" y="2231136"/>
            <a:ext cx="1962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F3A34"/>
                </a:solidFill>
                <a:latin typeface="Cambria"/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1604" y="2761488"/>
            <a:ext cx="19628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101418"/>
                </a:solidFill>
                <a:latin typeface="Calibri"/>
              </a:rPr>
              <a:t>self-budgeting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1604" y="3182112"/>
            <a:ext cx="19628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7780"/>
                </a:solidFill>
                <a:latin typeface="Calibri"/>
              </a:rPr>
              <a:t>the system throttles itself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24528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43984"/>
            <a:ext cx="67665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100" b="1" i="0">
                <a:solidFill>
                  <a:srgbClr val="101418"/>
                </a:solidFill>
                <a:latin typeface="Cambria"/>
              </a:rPr>
              <a:t>What does it cost you to check one expert decision,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100" b="1" i="0">
                <a:solidFill>
                  <a:srgbClr val="101418"/>
                </a:solidFill>
                <a:latin typeface="Cambria"/>
              </a:rPr>
              <a:t>and when did you last measure it?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443984"/>
            <a:ext cx="372160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If there is no number and no date, you are at S0.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6B7780"/>
                </a:solidFill>
                <a:latin typeface="Calibri"/>
              </a:rPr>
              <a:t>There is no S5. A system with no human verifier does not have an infinite verification budget. It has none.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KNOWN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What I do not know.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The measurement is biased.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12848"/>
            <a:ext cx="6830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People check more carefully when watched, so the budget always looks better than it is. Direction known, size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52927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Bursts are not modelled.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99232"/>
            <a:ext cx="6830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The budget is a rate. Work does not arrive evenly. You can be fine on average and still drop reviews in board week. This is the biggest hole and I am asking for help.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39311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5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Timing is a proxy for checking.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85615"/>
            <a:ext cx="6830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Somebody who already knows the answer can approve correctly in twenty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25696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The B and C line is genuinely blurry.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6830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Nobody has published how often two qualified people disagree.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12080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5838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 i="0">
                <a:solidFill>
                  <a:srgbClr val="101418"/>
                </a:solidFill>
                <a:latin typeface="Calibri"/>
              </a:rPr>
              <a:t>There is no field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58384"/>
            <a:ext cx="6830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Every figure here is illustrative. The repository says so on the same page it prints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99846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6B7780"/>
                </a:solidFill>
                <a:latin typeface="Calibri"/>
              </a:rPr>
              <a:t>WHAT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78638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199632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09360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github.com/hotragn/verb     x.com/hotragn     linkedin.com/in/hotragn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09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"/>
            <a:ext cx="95097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300" b="1" i="0">
                <a:solidFill>
                  <a:srgbClr val="101418"/>
                </a:solidFill>
                <a:latin typeface="Cambria"/>
              </a:rPr>
              <a:t>Four things you can do on Monday.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9424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101418"/>
                </a:solidFill>
                <a:latin typeface="Calibri"/>
              </a:rPr>
              <a:t>Pick one decision type an agent already touches.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49424"/>
            <a:ext cx="6007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One. Not a programme.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944368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101418"/>
                </a:solidFill>
                <a:latin typeface="Calibri"/>
              </a:rPr>
              <a:t>Time thirty reviews of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108960"/>
            <a:ext cx="6007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Then ask each reviewer whether they genuinely checked, and discard the ones who say no. That last step is the whole 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03904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86783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68496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101418"/>
                </a:solidFill>
                <a:latin typeface="Calibri"/>
              </a:rPr>
              <a:t>Do the division.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968496"/>
            <a:ext cx="6007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Four numbers into the calculator. About a minute, and it runs in your browser with nothing sent anywhere.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663440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19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F3A34"/>
                </a:solidFill>
                <a:latin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28031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1" i="0">
                <a:solidFill>
                  <a:srgbClr val="101418"/>
                </a:solidFill>
                <a:latin typeface="Calibri"/>
              </a:rPr>
              <a:t>Show somebody the gap.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828031"/>
            <a:ext cx="6007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2A333B"/>
                </a:solidFill>
                <a:latin typeface="Calibri"/>
              </a:rPr>
              <a:t>Not a programme, not a policy. One number, one conversation.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522975"/>
            <a:ext cx="10637215" cy="8572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41264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1">
                <a:solidFill>
                  <a:srgbClr val="6B7780"/>
                </a:solidFill>
                <a:latin typeface="Calibri"/>
              </a:rPr>
              <a:t>Under 1.0 and you have headroom, so deploy more. Over, and you now know something you did not know this morning. That is the entire first stage.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600" b="1" i="0">
                <a:solidFill>
                  <a:srgbClr val="F7F6F3"/>
                </a:solidFill>
                <a:latin typeface="Cambria"/>
              </a:rPr>
              <a:t>Take it and use it</a:t>
            </a:r>
          </a:p>
        </p:txBody>
      </p:sp>
      <p:pic>
        <p:nvPicPr>
          <p:cNvPr id="3" name="Picture 2" descr="qr-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87168"/>
            <a:ext cx="1691640" cy="1691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352544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7F6F3"/>
                </a:solidFill>
                <a:latin typeface="Calibri"/>
              </a:rPr>
              <a:t>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08576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7FD8C2"/>
                </a:solidFill>
                <a:latin typeface="Calibri"/>
              </a:rPr>
              <a:t>github.com/hotragn/verb</a:t>
            </a:r>
          </a:p>
        </p:txBody>
      </p:sp>
      <p:pic>
        <p:nvPicPr>
          <p:cNvPr id="6" name="Picture 5" descr="qr-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487168"/>
            <a:ext cx="1691640" cy="169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27248" y="4352544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7F6F3"/>
                </a:solidFill>
                <a:latin typeface="Calibri"/>
              </a:rPr>
              <a:t>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4608576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7FD8C2"/>
                </a:solidFill>
                <a:latin typeface="Calibri"/>
              </a:rPr>
              <a:t>hotragn.github.io/verb</a:t>
            </a:r>
          </a:p>
        </p:txBody>
      </p:sp>
      <p:pic>
        <p:nvPicPr>
          <p:cNvPr id="9" name="Picture 8" descr="qr-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2487168"/>
            <a:ext cx="169164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77256" y="4352544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7F6F3"/>
                </a:solidFill>
                <a:latin typeface="Calibri"/>
              </a:rPr>
              <a:t>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7256" y="4608576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7FD8C2"/>
                </a:solidFill>
                <a:latin typeface="Calibri"/>
              </a:rPr>
              <a:t>linkedin.com/in/hotragn</a:t>
            </a:r>
          </a:p>
        </p:txBody>
      </p:sp>
      <p:pic>
        <p:nvPicPr>
          <p:cNvPr id="12" name="Picture 11" descr="qr-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2487168"/>
            <a:ext cx="1691640" cy="1691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27264" y="4352544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7F6F3"/>
                </a:solidFill>
                <a:latin typeface="Calibri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4608576"/>
            <a:ext cx="2258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7FD8C2"/>
                </a:solidFill>
                <a:latin typeface="Calibri"/>
              </a:rPr>
              <a:t>x.com/hotragn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230368"/>
            <a:ext cx="10637215" cy="11430"/>
          </a:xfrm>
          <a:prstGeom prst="rect">
            <a:avLst/>
          </a:prstGeom>
          <a:solidFill>
            <a:srgbClr val="2B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49824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00" b="0" i="0">
                <a:solidFill>
                  <a:srgbClr val="C9C6BF"/>
                </a:solidFill>
                <a:latin typeface="Cambria"/>
              </a:rPr>
              <a:t>Formula, schemas, calculator and eval harness. Apache 2.0.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00" b="0" i="0">
                <a:solidFill>
                  <a:srgbClr val="C9C6BF"/>
                </a:solidFill>
                <a:latin typeface="Cambria"/>
              </a:rPr>
              <a:t>Issues and measured verification costs welcome.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055" y="56327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7F6F3"/>
                </a:solidFill>
                <a:latin typeface="Calibri"/>
              </a:rPr>
              <a:t>Hotragn Pettugani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